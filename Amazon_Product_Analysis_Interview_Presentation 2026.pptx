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88825"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5" d="100"/>
          <a:sy n="75" d="100"/>
        </p:scale>
        <p:origin x="66"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extLst>
      <p:ext uri="{BB962C8B-B14F-4D97-AF65-F5344CB8AC3E}">
        <p14:creationId xmlns:p14="http://schemas.microsoft.com/office/powerpoint/2010/main" val="3884289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My name is Jitendra More. Today I am presenting my Amazon Product Analysis project. I used Python, Pandas, MySQL, SQL, and Matplotlib to clean the data, calculate KPIs, create visualizations, and convert the results into business insights.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10282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raw dataset contained 1,465 rows and 1,351 unique product IDs. After handling missing or invalid values and keeping one record per product, the final dataset contained 1,348 unique products. I used product ID because product name alone is not a reliable unique key.</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48796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average product rating is 4.09 out of 5. Nearly 75 percent of products have ratings of four stars or higher, which indicates generally positive customer satisfaction. I also examined the distribution because an average alone does not show the complete picture.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24290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average discount is 46.66 percent, rounded to 46.7 percent in the presentation. This shows that promotional pricing is common. However, discount should be evaluated together with margin, demand, and customer satisfaction.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69078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product-level cleaning, the dataset represents 23,801,431 customer reviews. I aggregated this only after checking repeated product IDs so the total would not be inflated.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05009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distribution shows that 914 products are rated between 4.0 and 4.4. In total, 1,009 of 1,348 products have a rating of four or higher. This supports the conclusion that ratings are generally positive.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443691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chart shows how discounts are distributed. About 59 percent of products offer discounts between 40 and 79 percent. Large discounts are common, but the business should confirm whether they improve demand without reducing profitability too much.</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896418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highest-rated products range from 4.7 to 5.0 stars. When products have the same rating, I would use review count as a tie-breaker because a rating supported by more reviews is more reliable.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604215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Amazon Basics HDMI cable variants have the highest review count at 426,973. Similar names appear because the records have different product IDs and may represent different variants. They are not duplicate product IDs.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074862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highest discount is 94 percent, and several products offer discounts above 90 percent. These extreme values may reflect promotional campaigns, inventory clearance, or product lifecycle decisions, so profitability should also be reviewed.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545060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scatter plot shows no strong relationship between discount percentage and rating. This suggests that increasing a discount does not automatically increase customer satisfaction. Product quality and customer experience are likely more important.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68120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USB Cables form the largest category with 159 products, followed by Smartphones with 68 and Smartwatches with 62. This measures product assortment, not sales or revenue, because the dataset does not contain quantity sold.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93431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correlation matrix shows a strong positive correlation of 0.96 between actual price and discounted price. The relationship between discount percentage and rating is weak at minus 0.16. Correlation describes association and does not prove causation.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071027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chart shows the composition of only the Top 10 categories. USB Cables account for 29.1 percent within this selected group. These percentages should not be interpreted as the market share of the full Amazon marketplace.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54593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conclude, I completed an end-to-end analytics workflow using Python and MySQL. I cleaned the raw data, verified the KPIs in SQL, created visualizations, and translated the findings into business insights. My main recommendation is not to compete only through discounting. Product quality and customer experience should be part of the pricing strategy. Thank you. I am happy to answer questions.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84866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F5DA241-53D9-4D88-BA7E-77D544743C41}"/>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 xmlns:a16="http://schemas.microsoft.com/office/drawing/2014/main" id="{A0D9E72A-AA00-45C7-90AC-22C7B412A7FF}"/>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 xmlns:a16="http://schemas.microsoft.com/office/drawing/2014/main" id="{6356405B-A0C4-42A4-851E-5FB58FD0F757}"/>
              </a:ext>
            </a:extLst>
          </p:cNvPr>
          <p:cNvSpPr>
            <a:spLocks noGrp="1"/>
          </p:cNvSpPr>
          <p:nvPr>
            <p:ph type="dt" idx="10"/>
          </p:nvPr>
        </p:nvSpPr>
        <p:spPr/>
        <p:txBody>
          <a:bodyPr/>
          <a:lstStyle/>
          <a:p>
            <a:fld id="{5BCAD085-E8A6-8845-BD4E-CB4CCA059FC4}" type="datetimeFigureOut">
              <a:t>8/27/2026</a:t>
            </a:fld>
            <a:endParaRPr/>
          </a:p>
        </p:txBody>
      </p:sp>
      <p:sp>
        <p:nvSpPr>
          <p:cNvPr id="5" name="Footer Placeholder 4">
            <a:extLst>
              <a:ext uri="{FF2B5EF4-FFF2-40B4-BE49-F238E27FC236}">
                <a16:creationId xmlns="" xmlns:a16="http://schemas.microsoft.com/office/drawing/2014/main" id="{E447EC5A-DD94-4D5C-ADBD-EC31B1762B1F}"/>
              </a:ext>
            </a:extLst>
          </p:cNvPr>
          <p:cNvSpPr>
            <a:spLocks noGrp="1"/>
          </p:cNvSpPr>
          <p:nvPr>
            <p:ph type="ftr" idx="11"/>
          </p:nvPr>
        </p:nvSpPr>
        <p:spPr/>
        <p:txBody>
          <a:bodyPr/>
          <a:lstStyle/>
          <a:p>
            <a:endParaRPr/>
          </a:p>
        </p:txBody>
      </p:sp>
      <p:sp>
        <p:nvSpPr>
          <p:cNvPr id="6" name="Slide Number Placeholder 5">
            <a:extLst>
              <a:ext uri="{FF2B5EF4-FFF2-40B4-BE49-F238E27FC236}">
                <a16:creationId xmlns="" xmlns:a16="http://schemas.microsoft.com/office/drawing/2014/main" id="{7BDDDB61-B37F-4E14-8A60-98C7A31CF30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97411D1-B1F0-469A-AF46-943F5CDDCFCE}"/>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 xmlns:a16="http://schemas.microsoft.com/office/drawing/2014/main" id="{857C7305-81A2-4A87-8482-A689A883FBA4}"/>
              </a:ext>
            </a:extLst>
          </p:cNvPr>
          <p:cNvSpPr>
            <a:spLocks noGrp="1"/>
          </p:cNvSpPr>
          <p:nvPr>
            <p:ph idx="1"/>
          </p:nvPr>
        </p:nvSpPr>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 xmlns:a16="http://schemas.microsoft.com/office/drawing/2014/main" id="{54A4A903-4AB7-4182-A1A1-CDF9591DF21E}"/>
              </a:ext>
            </a:extLst>
          </p:cNvPr>
          <p:cNvSpPr>
            <a:spLocks noGrp="1"/>
          </p:cNvSpPr>
          <p:nvPr>
            <p:ph type="dt" idx="10"/>
          </p:nvPr>
        </p:nvSpPr>
        <p:spPr/>
        <p:txBody>
          <a:bodyPr/>
          <a:lstStyle/>
          <a:p>
            <a:fld id="{5BCAD085-E8A6-8845-BD4E-CB4CCA059FC4}" type="datetimeFigureOut">
              <a:t>8/27/2026</a:t>
            </a:fld>
            <a:endParaRPr/>
          </a:p>
        </p:txBody>
      </p:sp>
      <p:sp>
        <p:nvSpPr>
          <p:cNvPr id="5" name="Footer Placeholder 4">
            <a:extLst>
              <a:ext uri="{FF2B5EF4-FFF2-40B4-BE49-F238E27FC236}">
                <a16:creationId xmlns="" xmlns:a16="http://schemas.microsoft.com/office/drawing/2014/main" id="{E669B696-F829-4BCC-BABA-A43F32A4B6AD}"/>
              </a:ext>
            </a:extLst>
          </p:cNvPr>
          <p:cNvSpPr>
            <a:spLocks noGrp="1"/>
          </p:cNvSpPr>
          <p:nvPr>
            <p:ph type="ftr" idx="11"/>
          </p:nvPr>
        </p:nvSpPr>
        <p:spPr/>
        <p:txBody>
          <a:bodyPr/>
          <a:lstStyle/>
          <a:p>
            <a:endParaRPr/>
          </a:p>
        </p:txBody>
      </p:sp>
      <p:sp>
        <p:nvSpPr>
          <p:cNvPr id="6" name="Slide Number Placeholder 5">
            <a:extLst>
              <a:ext uri="{FF2B5EF4-FFF2-40B4-BE49-F238E27FC236}">
                <a16:creationId xmlns="" xmlns:a16="http://schemas.microsoft.com/office/drawing/2014/main" id="{5324CC66-10F3-49E5-80A1-7E491D3E59F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7444E9-64AA-418E-9399-85D02507B7D0}"/>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 xmlns:a16="http://schemas.microsoft.com/office/drawing/2014/main" id="{C2A5CE1F-BC59-4AF3-B8FA-0FDE3316F5D8}"/>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a:buNone/>
            </a:pPr>
            <a:r>
              <a:t>Click to edit Master text styles</a:t>
            </a:r>
          </a:p>
        </p:txBody>
      </p:sp>
      <p:sp>
        <p:nvSpPr>
          <p:cNvPr id="4" name="Date Placeholder 3">
            <a:extLst>
              <a:ext uri="{FF2B5EF4-FFF2-40B4-BE49-F238E27FC236}">
                <a16:creationId xmlns="" xmlns:a16="http://schemas.microsoft.com/office/drawing/2014/main" id="{F8379E91-F6A6-4E03-ACC9-6E449F83888E}"/>
              </a:ext>
            </a:extLst>
          </p:cNvPr>
          <p:cNvSpPr>
            <a:spLocks noGrp="1"/>
          </p:cNvSpPr>
          <p:nvPr>
            <p:ph type="dt" idx="10"/>
          </p:nvPr>
        </p:nvSpPr>
        <p:spPr/>
        <p:txBody>
          <a:bodyPr/>
          <a:lstStyle/>
          <a:p>
            <a:fld id="{5BCAD085-E8A6-8845-BD4E-CB4CCA059FC4}" type="datetimeFigureOut">
              <a:t>8/27/2026</a:t>
            </a:fld>
            <a:endParaRPr/>
          </a:p>
        </p:txBody>
      </p:sp>
      <p:sp>
        <p:nvSpPr>
          <p:cNvPr id="5" name="Footer Placeholder 4">
            <a:extLst>
              <a:ext uri="{FF2B5EF4-FFF2-40B4-BE49-F238E27FC236}">
                <a16:creationId xmlns="" xmlns:a16="http://schemas.microsoft.com/office/drawing/2014/main" id="{81359E50-A447-4B41-8445-8EE1B5ED6CCC}"/>
              </a:ext>
            </a:extLst>
          </p:cNvPr>
          <p:cNvSpPr>
            <a:spLocks noGrp="1"/>
          </p:cNvSpPr>
          <p:nvPr>
            <p:ph type="ftr" idx="11"/>
          </p:nvPr>
        </p:nvSpPr>
        <p:spPr/>
        <p:txBody>
          <a:bodyPr/>
          <a:lstStyle/>
          <a:p>
            <a:endParaRPr/>
          </a:p>
        </p:txBody>
      </p:sp>
      <p:sp>
        <p:nvSpPr>
          <p:cNvPr id="6" name="Slide Number Placeholder 5">
            <a:extLst>
              <a:ext uri="{FF2B5EF4-FFF2-40B4-BE49-F238E27FC236}">
                <a16:creationId xmlns="" xmlns:a16="http://schemas.microsoft.com/office/drawing/2014/main" id="{C188D909-BE52-4DE9-8441-AB04589FB8D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ACA594-6AF4-449F-B74B-ECDF930A3A4B}"/>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 xmlns:a16="http://schemas.microsoft.com/office/drawing/2014/main" id="{00A93B68-6D3F-4E7D-B00C-7768E8559D38}"/>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Content Placeholder 3">
            <a:extLst>
              <a:ext uri="{FF2B5EF4-FFF2-40B4-BE49-F238E27FC236}">
                <a16:creationId xmlns="" xmlns:a16="http://schemas.microsoft.com/office/drawing/2014/main" id="{87D5B3BB-41C3-4D50-B2F7-FC6296EE7CB7}"/>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Date Placeholder 4">
            <a:extLst>
              <a:ext uri="{FF2B5EF4-FFF2-40B4-BE49-F238E27FC236}">
                <a16:creationId xmlns="" xmlns:a16="http://schemas.microsoft.com/office/drawing/2014/main" id="{8EFAA55B-5917-4F7F-B3E1-B4FBB153C41D}"/>
              </a:ext>
            </a:extLst>
          </p:cNvPr>
          <p:cNvSpPr>
            <a:spLocks noGrp="1"/>
          </p:cNvSpPr>
          <p:nvPr>
            <p:ph type="dt" idx="10"/>
          </p:nvPr>
        </p:nvSpPr>
        <p:spPr/>
        <p:txBody>
          <a:bodyPr/>
          <a:lstStyle/>
          <a:p>
            <a:fld id="{5BCAD085-E8A6-8845-BD4E-CB4CCA059FC4}" type="datetimeFigureOut">
              <a:t>8/27/2026</a:t>
            </a:fld>
            <a:endParaRPr/>
          </a:p>
        </p:txBody>
      </p:sp>
      <p:sp>
        <p:nvSpPr>
          <p:cNvPr id="6" name="Footer Placeholder 5">
            <a:extLst>
              <a:ext uri="{FF2B5EF4-FFF2-40B4-BE49-F238E27FC236}">
                <a16:creationId xmlns="" xmlns:a16="http://schemas.microsoft.com/office/drawing/2014/main" id="{61DCC53C-230D-477D-93D7-52B05170A468}"/>
              </a:ext>
            </a:extLst>
          </p:cNvPr>
          <p:cNvSpPr>
            <a:spLocks noGrp="1"/>
          </p:cNvSpPr>
          <p:nvPr>
            <p:ph type="ftr" idx="11"/>
          </p:nvPr>
        </p:nvSpPr>
        <p:spPr/>
        <p:txBody>
          <a:bodyPr/>
          <a:lstStyle/>
          <a:p>
            <a:endParaRPr/>
          </a:p>
        </p:txBody>
      </p:sp>
      <p:sp>
        <p:nvSpPr>
          <p:cNvPr id="7" name="Slide Number Placeholder 6">
            <a:extLst>
              <a:ext uri="{FF2B5EF4-FFF2-40B4-BE49-F238E27FC236}">
                <a16:creationId xmlns="" xmlns:a16="http://schemas.microsoft.com/office/drawing/2014/main" id="{13D8FD27-1546-405D-A213-8029EBFD8BF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86C948D-0B2F-4690-84CB-3A49295D6777}"/>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 xmlns:a16="http://schemas.microsoft.com/office/drawing/2014/main" id="{4F856DBA-B752-4A29-8A1D-D843F0318B08}"/>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4" name="Content Placeholder 3">
            <a:extLst>
              <a:ext uri="{FF2B5EF4-FFF2-40B4-BE49-F238E27FC236}">
                <a16:creationId xmlns="" xmlns:a16="http://schemas.microsoft.com/office/drawing/2014/main" id="{D862DD63-B27D-4317-B70F-B440620D01FB}"/>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Text Placeholder 4">
            <a:extLst>
              <a:ext uri="{FF2B5EF4-FFF2-40B4-BE49-F238E27FC236}">
                <a16:creationId xmlns="" xmlns:a16="http://schemas.microsoft.com/office/drawing/2014/main" id="{18F7A19D-F5C0-47C9-A759-00B6510890D2}"/>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6" name="Content Placeholder 5">
            <a:extLst>
              <a:ext uri="{FF2B5EF4-FFF2-40B4-BE49-F238E27FC236}">
                <a16:creationId xmlns="" xmlns:a16="http://schemas.microsoft.com/office/drawing/2014/main" id="{A41ABBDC-D712-48AA-8E9E-0DD3D692C3AF}"/>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7" name="Date Placeholder 6">
            <a:extLst>
              <a:ext uri="{FF2B5EF4-FFF2-40B4-BE49-F238E27FC236}">
                <a16:creationId xmlns="" xmlns:a16="http://schemas.microsoft.com/office/drawing/2014/main" id="{E2A34CEC-00E4-43D1-AC22-D1E994E5931E}"/>
              </a:ext>
            </a:extLst>
          </p:cNvPr>
          <p:cNvSpPr>
            <a:spLocks noGrp="1"/>
          </p:cNvSpPr>
          <p:nvPr>
            <p:ph type="dt" idx="10"/>
          </p:nvPr>
        </p:nvSpPr>
        <p:spPr/>
        <p:txBody>
          <a:bodyPr/>
          <a:lstStyle/>
          <a:p>
            <a:fld id="{5BCAD085-E8A6-8845-BD4E-CB4CCA059FC4}" type="datetimeFigureOut">
              <a:t>8/27/2026</a:t>
            </a:fld>
            <a:endParaRPr/>
          </a:p>
        </p:txBody>
      </p:sp>
      <p:sp>
        <p:nvSpPr>
          <p:cNvPr id="8" name="Footer Placeholder 7">
            <a:extLst>
              <a:ext uri="{FF2B5EF4-FFF2-40B4-BE49-F238E27FC236}">
                <a16:creationId xmlns="" xmlns:a16="http://schemas.microsoft.com/office/drawing/2014/main" id="{1B747BEE-1EFA-47E8-B524-544DE4297A1A}"/>
              </a:ext>
            </a:extLst>
          </p:cNvPr>
          <p:cNvSpPr>
            <a:spLocks noGrp="1"/>
          </p:cNvSpPr>
          <p:nvPr>
            <p:ph type="ftr" idx="11"/>
          </p:nvPr>
        </p:nvSpPr>
        <p:spPr/>
        <p:txBody>
          <a:bodyPr/>
          <a:lstStyle/>
          <a:p>
            <a:endParaRPr/>
          </a:p>
        </p:txBody>
      </p:sp>
      <p:sp>
        <p:nvSpPr>
          <p:cNvPr id="9" name="Slide Number Placeholder 8">
            <a:extLst>
              <a:ext uri="{FF2B5EF4-FFF2-40B4-BE49-F238E27FC236}">
                <a16:creationId xmlns="" xmlns:a16="http://schemas.microsoft.com/office/drawing/2014/main" id="{63980AD6-E897-49CD-B279-2DAF041E854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87DF04C-273D-487A-A21E-1B85FF7C2CB8}"/>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 xmlns:a16="http://schemas.microsoft.com/office/drawing/2014/main" id="{9A12B8D2-ECA8-403C-A872-0E38BEB0B3FC}"/>
              </a:ext>
            </a:extLst>
          </p:cNvPr>
          <p:cNvSpPr>
            <a:spLocks noGrp="1"/>
          </p:cNvSpPr>
          <p:nvPr>
            <p:ph type="dt" idx="10"/>
          </p:nvPr>
        </p:nvSpPr>
        <p:spPr/>
        <p:txBody>
          <a:bodyPr/>
          <a:lstStyle/>
          <a:p>
            <a:fld id="{5BCAD085-E8A6-8845-BD4E-CB4CCA059FC4}" type="datetimeFigureOut">
              <a:t>8/27/2026</a:t>
            </a:fld>
            <a:endParaRPr/>
          </a:p>
        </p:txBody>
      </p:sp>
      <p:sp>
        <p:nvSpPr>
          <p:cNvPr id="4" name="Footer Placeholder 3">
            <a:extLst>
              <a:ext uri="{FF2B5EF4-FFF2-40B4-BE49-F238E27FC236}">
                <a16:creationId xmlns="" xmlns:a16="http://schemas.microsoft.com/office/drawing/2014/main" id="{B436CA49-1988-4F9E-BFC1-828E3A99724E}"/>
              </a:ext>
            </a:extLst>
          </p:cNvPr>
          <p:cNvSpPr>
            <a:spLocks noGrp="1"/>
          </p:cNvSpPr>
          <p:nvPr>
            <p:ph type="ftr" idx="11"/>
          </p:nvPr>
        </p:nvSpPr>
        <p:spPr/>
        <p:txBody>
          <a:bodyPr/>
          <a:lstStyle/>
          <a:p>
            <a:endParaRPr/>
          </a:p>
        </p:txBody>
      </p:sp>
      <p:sp>
        <p:nvSpPr>
          <p:cNvPr id="5" name="Slide Number Placeholder 4">
            <a:extLst>
              <a:ext uri="{FF2B5EF4-FFF2-40B4-BE49-F238E27FC236}">
                <a16:creationId xmlns="" xmlns:a16="http://schemas.microsoft.com/office/drawing/2014/main" id="{541F92D0-BAF7-48B1-93A7-2B25A1C3322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50EC95F9-A11A-4868-8BBD-C553F0446B8C}"/>
              </a:ext>
            </a:extLst>
          </p:cNvPr>
          <p:cNvSpPr>
            <a:spLocks noGrp="1"/>
          </p:cNvSpPr>
          <p:nvPr>
            <p:ph type="dt" idx="10"/>
          </p:nvPr>
        </p:nvSpPr>
        <p:spPr/>
        <p:txBody>
          <a:bodyPr/>
          <a:lstStyle/>
          <a:p>
            <a:fld id="{5BCAD085-E8A6-8845-BD4E-CB4CCA059FC4}" type="datetimeFigureOut">
              <a:t>8/27/2026</a:t>
            </a:fld>
            <a:endParaRPr/>
          </a:p>
        </p:txBody>
      </p:sp>
      <p:sp>
        <p:nvSpPr>
          <p:cNvPr id="3" name="Footer Placeholder 2">
            <a:extLst>
              <a:ext uri="{FF2B5EF4-FFF2-40B4-BE49-F238E27FC236}">
                <a16:creationId xmlns="" xmlns:a16="http://schemas.microsoft.com/office/drawing/2014/main" id="{44F73711-0F79-4E3B-AC6E-9CAA0E617716}"/>
              </a:ext>
            </a:extLst>
          </p:cNvPr>
          <p:cNvSpPr>
            <a:spLocks noGrp="1"/>
          </p:cNvSpPr>
          <p:nvPr>
            <p:ph type="ftr" idx="11"/>
          </p:nvPr>
        </p:nvSpPr>
        <p:spPr/>
        <p:txBody>
          <a:bodyPr/>
          <a:lstStyle/>
          <a:p>
            <a:endParaRPr/>
          </a:p>
        </p:txBody>
      </p:sp>
      <p:sp>
        <p:nvSpPr>
          <p:cNvPr id="4" name="Slide Number Placeholder 3">
            <a:extLst>
              <a:ext uri="{FF2B5EF4-FFF2-40B4-BE49-F238E27FC236}">
                <a16:creationId xmlns="" xmlns:a16="http://schemas.microsoft.com/office/drawing/2014/main" id="{C1E41E92-C6E1-48C7-A287-035E4A23A10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AC9F0F-AB58-4811-9758-F54D55A13B52}"/>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 xmlns:a16="http://schemas.microsoft.com/office/drawing/2014/main" id="{57B4B739-8E9F-4EED-B20E-6D1354E96E48}"/>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Text Placeholder 3">
            <a:extLst>
              <a:ext uri="{FF2B5EF4-FFF2-40B4-BE49-F238E27FC236}">
                <a16:creationId xmlns="" xmlns:a16="http://schemas.microsoft.com/office/drawing/2014/main" id="{9A2791E3-F48E-4562-999F-D9B515856D86}"/>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buNone/>
            </a:pPr>
            <a:r>
              <a:t>Click to edit Master text styles</a:t>
            </a:r>
          </a:p>
        </p:txBody>
      </p:sp>
      <p:sp>
        <p:nvSpPr>
          <p:cNvPr id="5" name="Date Placeholder 4">
            <a:extLst>
              <a:ext uri="{FF2B5EF4-FFF2-40B4-BE49-F238E27FC236}">
                <a16:creationId xmlns="" xmlns:a16="http://schemas.microsoft.com/office/drawing/2014/main" id="{34C4F23E-CBD7-4569-BC39-56BA4220C5F1}"/>
              </a:ext>
            </a:extLst>
          </p:cNvPr>
          <p:cNvSpPr>
            <a:spLocks noGrp="1"/>
          </p:cNvSpPr>
          <p:nvPr>
            <p:ph type="dt" idx="10"/>
          </p:nvPr>
        </p:nvSpPr>
        <p:spPr/>
        <p:txBody>
          <a:bodyPr/>
          <a:lstStyle/>
          <a:p>
            <a:fld id="{5BCAD085-E8A6-8845-BD4E-CB4CCA059FC4}" type="datetimeFigureOut">
              <a:t>8/27/2026</a:t>
            </a:fld>
            <a:endParaRPr/>
          </a:p>
        </p:txBody>
      </p:sp>
      <p:sp>
        <p:nvSpPr>
          <p:cNvPr id="6" name="Footer Placeholder 5">
            <a:extLst>
              <a:ext uri="{FF2B5EF4-FFF2-40B4-BE49-F238E27FC236}">
                <a16:creationId xmlns="" xmlns:a16="http://schemas.microsoft.com/office/drawing/2014/main" id="{22BF1EBD-CCD6-4287-AF56-2E4A3C8D0DF4}"/>
              </a:ext>
            </a:extLst>
          </p:cNvPr>
          <p:cNvSpPr>
            <a:spLocks noGrp="1"/>
          </p:cNvSpPr>
          <p:nvPr>
            <p:ph type="ftr" idx="11"/>
          </p:nvPr>
        </p:nvSpPr>
        <p:spPr/>
        <p:txBody>
          <a:bodyPr/>
          <a:lstStyle/>
          <a:p>
            <a:endParaRPr/>
          </a:p>
        </p:txBody>
      </p:sp>
      <p:sp>
        <p:nvSpPr>
          <p:cNvPr id="7" name="Slide Number Placeholder 6">
            <a:extLst>
              <a:ext uri="{FF2B5EF4-FFF2-40B4-BE49-F238E27FC236}">
                <a16:creationId xmlns="" xmlns:a16="http://schemas.microsoft.com/office/drawing/2014/main" id="{E8B3B5CC-A435-473D-A7FC-8FB848C3A62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0C815F-75E9-4EE8-937A-0857BAFD9BEA}"/>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 xmlns:a16="http://schemas.microsoft.com/office/drawing/2014/main" id="{D23C84BF-0EB1-4092-AB9C-F35F9C1F8365}"/>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 xmlns:a16="http://schemas.microsoft.com/office/drawing/2014/main" id="{3D3F921B-502B-4202-80E6-9FF02E90854B}"/>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buNone/>
            </a:pPr>
            <a:r>
              <a:t>Click to edit Master text styles</a:t>
            </a:r>
          </a:p>
        </p:txBody>
      </p:sp>
      <p:sp>
        <p:nvSpPr>
          <p:cNvPr id="5" name="Date Placeholder 4">
            <a:extLst>
              <a:ext uri="{FF2B5EF4-FFF2-40B4-BE49-F238E27FC236}">
                <a16:creationId xmlns="" xmlns:a16="http://schemas.microsoft.com/office/drawing/2014/main" id="{62BAE708-8EFF-4D1A-8784-ABED82A43F03}"/>
              </a:ext>
            </a:extLst>
          </p:cNvPr>
          <p:cNvSpPr>
            <a:spLocks noGrp="1"/>
          </p:cNvSpPr>
          <p:nvPr>
            <p:ph type="dt" idx="10"/>
          </p:nvPr>
        </p:nvSpPr>
        <p:spPr/>
        <p:txBody>
          <a:bodyPr/>
          <a:lstStyle/>
          <a:p>
            <a:fld id="{5BCAD085-E8A6-8845-BD4E-CB4CCA059FC4}" type="datetimeFigureOut">
              <a:t>8/27/2026</a:t>
            </a:fld>
            <a:endParaRPr/>
          </a:p>
        </p:txBody>
      </p:sp>
      <p:sp>
        <p:nvSpPr>
          <p:cNvPr id="6" name="Footer Placeholder 5">
            <a:extLst>
              <a:ext uri="{FF2B5EF4-FFF2-40B4-BE49-F238E27FC236}">
                <a16:creationId xmlns="" xmlns:a16="http://schemas.microsoft.com/office/drawing/2014/main" id="{E1C3A682-1ADF-4B55-8569-F840DEE1DF8E}"/>
              </a:ext>
            </a:extLst>
          </p:cNvPr>
          <p:cNvSpPr>
            <a:spLocks noGrp="1"/>
          </p:cNvSpPr>
          <p:nvPr>
            <p:ph type="ftr" idx="11"/>
          </p:nvPr>
        </p:nvSpPr>
        <p:spPr/>
        <p:txBody>
          <a:bodyPr/>
          <a:lstStyle/>
          <a:p>
            <a:endParaRPr/>
          </a:p>
        </p:txBody>
      </p:sp>
      <p:sp>
        <p:nvSpPr>
          <p:cNvPr id="7" name="Slide Number Placeholder 6">
            <a:extLst>
              <a:ext uri="{FF2B5EF4-FFF2-40B4-BE49-F238E27FC236}">
                <a16:creationId xmlns="" xmlns:a16="http://schemas.microsoft.com/office/drawing/2014/main" id="{442A64CA-6CD8-4A9E-9D53-8030350630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A87571B-9CA8-497C-9E7A-6A64B7F596F7}"/>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 xmlns:a16="http://schemas.microsoft.com/office/drawing/2014/main" id="{9DE4640E-B9AD-4D84-8377-7F25F708C0A6}"/>
              </a:ext>
            </a:extLst>
          </p:cNvPr>
          <p:cNvSpPr>
            <a:spLocks noGrp="1"/>
          </p:cNvSpPr>
          <p:nvPr>
            <p:ph type="body" idx="1"/>
          </p:nvPr>
        </p:nvSpPr>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 xmlns:a16="http://schemas.microsoft.com/office/drawing/2014/main" id="{89CBF8A8-A83E-4D8D-BABD-B5EF75EC66AC}"/>
              </a:ext>
            </a:extLst>
          </p:cNvPr>
          <p:cNvSpPr>
            <a:spLocks noGrp="1"/>
          </p:cNvSpPr>
          <p:nvPr>
            <p:ph type="dt" idx="10"/>
          </p:nvPr>
        </p:nvSpPr>
        <p:spPr/>
        <p:txBody>
          <a:bodyPr/>
          <a:lstStyle/>
          <a:p>
            <a:fld id="{5BCAD085-E8A6-8845-BD4E-CB4CCA059FC4}" type="datetimeFigureOut">
              <a:t>8/27/2026</a:t>
            </a:fld>
            <a:endParaRPr/>
          </a:p>
        </p:txBody>
      </p:sp>
      <p:sp>
        <p:nvSpPr>
          <p:cNvPr id="5" name="Footer Placeholder 4">
            <a:extLst>
              <a:ext uri="{FF2B5EF4-FFF2-40B4-BE49-F238E27FC236}">
                <a16:creationId xmlns="" xmlns:a16="http://schemas.microsoft.com/office/drawing/2014/main" id="{951A97F6-81D5-45C3-8C3F-B1F0798795CC}"/>
              </a:ext>
            </a:extLst>
          </p:cNvPr>
          <p:cNvSpPr>
            <a:spLocks noGrp="1"/>
          </p:cNvSpPr>
          <p:nvPr>
            <p:ph type="ftr" idx="11"/>
          </p:nvPr>
        </p:nvSpPr>
        <p:spPr/>
        <p:txBody>
          <a:bodyPr/>
          <a:lstStyle/>
          <a:p>
            <a:endParaRPr/>
          </a:p>
        </p:txBody>
      </p:sp>
      <p:sp>
        <p:nvSpPr>
          <p:cNvPr id="6" name="Slide Number Placeholder 5">
            <a:extLst>
              <a:ext uri="{FF2B5EF4-FFF2-40B4-BE49-F238E27FC236}">
                <a16:creationId xmlns="" xmlns:a16="http://schemas.microsoft.com/office/drawing/2014/main" id="{A511B504-27B1-4AEF-8068-148402E77C7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C00C6496-B622-4C40-BBA7-9A5B5E09C35C}"/>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 xmlns:a16="http://schemas.microsoft.com/office/drawing/2014/main" id="{BBB96F93-AC8B-416E-B91C-FF1971BA9D1C}"/>
              </a:ext>
            </a:extLst>
          </p:cNvPr>
          <p:cNvSpPr>
            <a:spLocks noGrp="1"/>
          </p:cNvSpPr>
          <p:nvPr>
            <p:ph type="body" idx="1"/>
          </p:nvPr>
        </p:nvSpPr>
        <p:spPr>
          <a:xfrm>
            <a:off x="457200" y="274638"/>
            <a:ext cx="6019800" cy="5851525"/>
          </a:xfrm>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 xmlns:a16="http://schemas.microsoft.com/office/drawing/2014/main" id="{5FF114CA-0AFF-4C52-85AD-8823DA31FD13}"/>
              </a:ext>
            </a:extLst>
          </p:cNvPr>
          <p:cNvSpPr>
            <a:spLocks noGrp="1"/>
          </p:cNvSpPr>
          <p:nvPr>
            <p:ph type="dt" idx="10"/>
          </p:nvPr>
        </p:nvSpPr>
        <p:spPr/>
        <p:txBody>
          <a:bodyPr/>
          <a:lstStyle/>
          <a:p>
            <a:fld id="{5BCAD085-E8A6-8845-BD4E-CB4CCA059FC4}" type="datetimeFigureOut">
              <a:t>8/27/2026</a:t>
            </a:fld>
            <a:endParaRPr/>
          </a:p>
        </p:txBody>
      </p:sp>
      <p:sp>
        <p:nvSpPr>
          <p:cNvPr id="5" name="Footer Placeholder 4">
            <a:extLst>
              <a:ext uri="{FF2B5EF4-FFF2-40B4-BE49-F238E27FC236}">
                <a16:creationId xmlns="" xmlns:a16="http://schemas.microsoft.com/office/drawing/2014/main" id="{B6615F1A-CE6F-4585-9966-9615723AFEB2}"/>
              </a:ext>
            </a:extLst>
          </p:cNvPr>
          <p:cNvSpPr>
            <a:spLocks noGrp="1"/>
          </p:cNvSpPr>
          <p:nvPr>
            <p:ph type="ftr" idx="11"/>
          </p:nvPr>
        </p:nvSpPr>
        <p:spPr/>
        <p:txBody>
          <a:bodyPr/>
          <a:lstStyle/>
          <a:p>
            <a:endParaRPr/>
          </a:p>
        </p:txBody>
      </p:sp>
      <p:sp>
        <p:nvSpPr>
          <p:cNvPr id="6" name="Slide Number Placeholder 5">
            <a:extLst>
              <a:ext uri="{FF2B5EF4-FFF2-40B4-BE49-F238E27FC236}">
                <a16:creationId xmlns="" xmlns:a16="http://schemas.microsoft.com/office/drawing/2014/main" id="{E9023E25-D401-448E-BBEA-9D27CD3113D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0B0070F1-3FB5-41D9-915B-EE1A744E7CA0}"/>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 xmlns:a16="http://schemas.microsoft.com/office/drawing/2014/main" id="{FBBACAD1-CA68-4E83-A1B1-BF826A8A7467}"/>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 xmlns:a16="http://schemas.microsoft.com/office/drawing/2014/main" id="{1F5AF35D-9FD2-4F4E-9866-A4497F25FEE6}"/>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8/27/2026</a:t>
            </a:fld>
            <a:endParaRPr/>
          </a:p>
        </p:txBody>
      </p:sp>
      <p:sp>
        <p:nvSpPr>
          <p:cNvPr id="5" name="Footer Placeholder 4">
            <a:extLst>
              <a:ext uri="{FF2B5EF4-FFF2-40B4-BE49-F238E27FC236}">
                <a16:creationId xmlns="" xmlns:a16="http://schemas.microsoft.com/office/drawing/2014/main" id="{965673E7-D7D6-4960-B340-BD47D939A602}"/>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 xmlns:a16="http://schemas.microsoft.com/office/drawing/2014/main" id="{C471FBEF-F24F-4C59-BFF3-F4999E9A672A}"/>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a:buNone/>
        <a:defRPr sz="4400">
          <a:solidFill>
            <a:schemeClr val="tx1"/>
          </a:solidFill>
          <a:latin typeface="+mj-lt"/>
          <a:ea typeface="+mj-lt"/>
          <a:cs typeface="+mj-lt"/>
        </a:defRPr>
      </a:lvl1pPr>
    </p:titleStyle>
    <p:bodyStyle>
      <a:lvl1pPr marL="342900" indent="-342900" algn="l">
        <a:buChar char="•"/>
        <a:defRPr sz="3200">
          <a:solidFill>
            <a:schemeClr val="tx1"/>
          </a:solidFill>
          <a:latin typeface="+mn-lt"/>
          <a:ea typeface="+mn-lt"/>
          <a:cs typeface="+mn-lt"/>
        </a:defRPr>
      </a:lvl1pPr>
      <a:lvl2pPr marL="742950" indent="-285750" algn="l">
        <a:buChar char="–"/>
        <a:defRPr sz="2800">
          <a:solidFill>
            <a:schemeClr val="tx1"/>
          </a:solidFill>
          <a:latin typeface="+mn-lt"/>
          <a:ea typeface="+mn-lt"/>
          <a:cs typeface="+mn-lt"/>
        </a:defRPr>
      </a:lvl2pPr>
      <a:lvl3pPr marL="1143000" indent="-228600" algn="l">
        <a:buChar char="•"/>
        <a:defRPr sz="2400">
          <a:solidFill>
            <a:schemeClr val="tx1"/>
          </a:solidFill>
          <a:latin typeface="+mn-lt"/>
          <a:ea typeface="+mn-lt"/>
          <a:cs typeface="+mn-lt"/>
        </a:defRPr>
      </a:lvl3pPr>
      <a:lvl4pPr marL="1600200" indent="-228600" algn="l">
        <a:buChar char="–"/>
        <a:defRPr sz="2000">
          <a:solidFill>
            <a:schemeClr val="tx1"/>
          </a:solidFill>
          <a:latin typeface="+mn-lt"/>
          <a:ea typeface="+mn-lt"/>
          <a:cs typeface="+mn-lt"/>
        </a:defRPr>
      </a:lvl4pPr>
      <a:lvl5pPr marL="2057400" indent="-228600" algn="l">
        <a:buChar char="»"/>
        <a:defRPr sz="2000">
          <a:solidFill>
            <a:schemeClr val="tx1"/>
          </a:solidFill>
          <a:latin typeface="+mn-lt"/>
          <a:ea typeface="+mn-lt"/>
          <a:cs typeface="+mn-lt"/>
        </a:defRPr>
      </a:lvl5pPr>
      <a:lvl6pPr marL="2514600" indent="-228600" algn="l">
        <a:buChar char="•"/>
        <a:defRPr sz="2000">
          <a:solidFill>
            <a:schemeClr val="tx1"/>
          </a:solidFill>
          <a:latin typeface="+mn-lt"/>
          <a:ea typeface="+mn-lt"/>
          <a:cs typeface="+mn-lt"/>
        </a:defRPr>
      </a:lvl6pPr>
      <a:lvl7pPr marL="2971800" indent="-228600" algn="l">
        <a:buChar char="•"/>
        <a:defRPr sz="2000">
          <a:solidFill>
            <a:schemeClr val="tx1"/>
          </a:solidFill>
          <a:latin typeface="+mn-lt"/>
          <a:ea typeface="+mn-lt"/>
          <a:cs typeface="+mn-lt"/>
        </a:defRPr>
      </a:lvl7pPr>
      <a:lvl8pPr marL="3429000" indent="-228600" algn="l">
        <a:buChar char="•"/>
        <a:defRPr sz="2000">
          <a:solidFill>
            <a:schemeClr val="tx1"/>
          </a:solidFill>
          <a:latin typeface="+mn-lt"/>
          <a:ea typeface="+mn-lt"/>
          <a:cs typeface="+mn-lt"/>
        </a:defRPr>
      </a:lvl8pPr>
      <a:lvl9pPr marL="3886200" indent="-228600" algn="l">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1" y="0"/>
            <a:ext cx="12188824" cy="1147383"/>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chemeClr val="tx1"/>
                </a:solidFill>
              </a:rPr>
              <a:t>amazon.</a:t>
            </a:r>
            <a:r>
              <a:rPr lang="en-US" sz="3600" dirty="0" smtClean="0"/>
              <a:t> </a:t>
            </a:r>
            <a:r>
              <a:rPr lang="en-US" sz="3600" dirty="0"/>
              <a:t>Product Data Analysis </a:t>
            </a:r>
            <a:r>
              <a:rPr lang="en-US" sz="3600" dirty="0" smtClean="0"/>
              <a:t>(2026</a:t>
            </a:r>
            <a:r>
              <a:rPr lang="en-US" sz="3600" dirty="0"/>
              <a:t>)</a:t>
            </a:r>
          </a:p>
        </p:txBody>
      </p:sp>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l="6524" t="6999" r="18425" b="1756"/>
          <a:stretch/>
        </p:blipFill>
        <p:spPr>
          <a:xfrm>
            <a:off x="1" y="-9941"/>
            <a:ext cx="1873955" cy="11473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1633" y="933851"/>
            <a:ext cx="3837274" cy="3049147"/>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44165" y="3187660"/>
            <a:ext cx="2524125" cy="1590675"/>
          </a:xfrm>
          <a:prstGeom prst="rect">
            <a:avLst/>
          </a:prstGeom>
        </p:spPr>
      </p:pic>
      <p:sp>
        <p:nvSpPr>
          <p:cNvPr id="13" name="Rectangle 12"/>
          <p:cNvSpPr/>
          <p:nvPr/>
        </p:nvSpPr>
        <p:spPr>
          <a:xfrm>
            <a:off x="3711212" y="3613666"/>
            <a:ext cx="995016" cy="369332"/>
          </a:xfrm>
          <a:prstGeom prst="rect">
            <a:avLst/>
          </a:prstGeom>
        </p:spPr>
        <p:txBody>
          <a:bodyPr wrap="none">
            <a:spAutoFit/>
          </a:bodyPr>
          <a:lstStyle/>
          <a:p>
            <a:r>
              <a:rPr lang="en-US" b="1" dirty="0"/>
              <a:t>a</a:t>
            </a:r>
            <a:r>
              <a:rPr lang="en-US" b="1" dirty="0" smtClean="0"/>
              <a:t>mazon</a:t>
            </a:r>
            <a:r>
              <a:rPr lang="en-US" b="1" dirty="0"/>
              <a:t>.</a:t>
            </a:r>
            <a:endParaRPr lang="en-US" dirty="0"/>
          </a:p>
        </p:txBody>
      </p:sp>
      <p:sp>
        <p:nvSpPr>
          <p:cNvPr id="14" name="Rectangle 13"/>
          <p:cNvSpPr/>
          <p:nvPr/>
        </p:nvSpPr>
        <p:spPr>
          <a:xfrm>
            <a:off x="5191889" y="1341277"/>
            <a:ext cx="6996936" cy="1446550"/>
          </a:xfrm>
          <a:prstGeom prst="rect">
            <a:avLst/>
          </a:prstGeom>
        </p:spPr>
        <p:txBody>
          <a:bodyPr wrap="square">
            <a:spAutoFit/>
          </a:bodyPr>
          <a:lstStyle/>
          <a:p>
            <a:pPr marL="342900" indent="-342900">
              <a:buFont typeface="Wingdings" panose="05000000000000000000" pitchFamily="2" charset="2"/>
              <a:buChar char="ü"/>
              <a:defRPr sz="2200"/>
            </a:pPr>
            <a:r>
              <a:rPr lang="en-US" b="1" dirty="0">
                <a:solidFill>
                  <a:schemeClr val="accent6">
                    <a:lumMod val="50000"/>
                  </a:schemeClr>
                </a:solidFill>
              </a:rPr>
              <a:t>Portfolio </a:t>
            </a:r>
            <a:r>
              <a:rPr lang="en-US" b="1" dirty="0" smtClean="0">
                <a:solidFill>
                  <a:schemeClr val="accent6">
                    <a:lumMod val="50000"/>
                  </a:schemeClr>
                </a:solidFill>
              </a:rPr>
              <a:t>Project</a:t>
            </a:r>
          </a:p>
          <a:p>
            <a:pPr>
              <a:defRPr sz="2200"/>
            </a:pPr>
            <a:r>
              <a:rPr lang="en-US" b="1" dirty="0" smtClean="0">
                <a:solidFill>
                  <a:schemeClr val="tx2"/>
                </a:solidFill>
              </a:rPr>
              <a:t>Tools</a:t>
            </a:r>
            <a:r>
              <a:rPr lang="en-US" dirty="0" smtClean="0"/>
              <a:t>:</a:t>
            </a:r>
            <a:r>
              <a:rPr lang="en-US" dirty="0" smtClean="0">
                <a:solidFill>
                  <a:schemeClr val="bg1">
                    <a:lumMod val="75000"/>
                  </a:schemeClr>
                </a:solidFill>
              </a:rPr>
              <a:t> </a:t>
            </a:r>
            <a:r>
              <a:rPr lang="en-US" sz="2200" b="1" dirty="0" smtClean="0">
                <a:solidFill>
                  <a:schemeClr val="bg1">
                    <a:lumMod val="85000"/>
                  </a:schemeClr>
                </a:solidFill>
              </a:rPr>
              <a:t>MySQL</a:t>
            </a:r>
            <a:r>
              <a:rPr lang="en-US" sz="2200" dirty="0">
                <a:solidFill>
                  <a:schemeClr val="bg1">
                    <a:lumMod val="85000"/>
                  </a:schemeClr>
                </a:solidFill>
              </a:rPr>
              <a:t>,</a:t>
            </a:r>
            <a:r>
              <a:rPr lang="en-US" sz="2200" dirty="0" smtClean="0">
                <a:solidFill>
                  <a:schemeClr val="bg1">
                    <a:lumMod val="85000"/>
                  </a:schemeClr>
                </a:solidFill>
              </a:rPr>
              <a:t> </a:t>
            </a:r>
            <a:r>
              <a:rPr lang="en-US" sz="2200" b="1" dirty="0">
                <a:solidFill>
                  <a:schemeClr val="bg1">
                    <a:lumMod val="85000"/>
                  </a:schemeClr>
                </a:solidFill>
              </a:rPr>
              <a:t>Python, Pandas</a:t>
            </a:r>
            <a:r>
              <a:rPr lang="en-US" sz="2200" dirty="0">
                <a:solidFill>
                  <a:schemeClr val="bg1">
                    <a:lumMod val="85000"/>
                  </a:schemeClr>
                </a:solidFill>
              </a:rPr>
              <a:t>,</a:t>
            </a:r>
            <a:r>
              <a:rPr lang="en-US" sz="2200" b="1" dirty="0">
                <a:solidFill>
                  <a:schemeClr val="bg1">
                    <a:lumMod val="85000"/>
                  </a:schemeClr>
                </a:solidFill>
              </a:rPr>
              <a:t> and </a:t>
            </a:r>
            <a:r>
              <a:rPr lang="en-US" sz="2200" b="1" dirty="0" err="1">
                <a:solidFill>
                  <a:schemeClr val="bg1">
                    <a:lumMod val="85000"/>
                  </a:schemeClr>
                </a:solidFill>
              </a:rPr>
              <a:t>Matplotlib</a:t>
            </a:r>
            <a:r>
              <a:rPr lang="en-US" sz="2200" b="1" dirty="0">
                <a:solidFill>
                  <a:schemeClr val="bg1">
                    <a:lumMod val="85000"/>
                  </a:schemeClr>
                </a:solidFill>
              </a:rPr>
              <a:t> form a </a:t>
            </a:r>
            <a:r>
              <a:rPr lang="en-US" sz="2200" b="1" dirty="0" smtClean="0">
                <a:solidFill>
                  <a:schemeClr val="bg1">
                    <a:lumMod val="85000"/>
                  </a:schemeClr>
                </a:solidFill>
              </a:rPr>
              <a:t>powerful data analytics </a:t>
            </a:r>
            <a:r>
              <a:rPr lang="en-US" sz="2200" b="1" dirty="0">
                <a:solidFill>
                  <a:schemeClr val="bg1">
                    <a:lumMod val="85000"/>
                  </a:schemeClr>
                </a:solidFill>
              </a:rPr>
              <a:t>stack used to extract, process, and visualize relational data.</a:t>
            </a:r>
            <a:r>
              <a:rPr lang="en-US" dirty="0">
                <a:solidFill>
                  <a:schemeClr val="bg1">
                    <a:lumMod val="85000"/>
                  </a:schemeClr>
                </a:solidFill>
              </a:rPr>
              <a:t>.</a:t>
            </a:r>
            <a:r>
              <a:rPr lang="en-US" i="1" dirty="0" smtClean="0">
                <a:solidFill>
                  <a:schemeClr val="bg1">
                    <a:lumMod val="85000"/>
                  </a:schemeClr>
                </a:solidFill>
              </a:rPr>
              <a:t>.</a:t>
            </a:r>
            <a:endParaRPr lang="en-US" i="1" dirty="0">
              <a:solidFill>
                <a:schemeClr val="bg1">
                  <a:lumMod val="85000"/>
                </a:schemeClr>
              </a:solidFill>
            </a:endParaRPr>
          </a:p>
        </p:txBody>
      </p:sp>
      <p:pic>
        <p:nvPicPr>
          <p:cNvPr id="2" name="Picture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803880" y="2584874"/>
            <a:ext cx="3226513" cy="1761348"/>
          </a:xfrm>
          <a:prstGeom prst="rect">
            <a:avLst/>
          </a:prstGeom>
        </p:spPr>
      </p:pic>
      <p:sp>
        <p:nvSpPr>
          <p:cNvPr id="9" name="Rectangle 8"/>
          <p:cNvSpPr/>
          <p:nvPr/>
        </p:nvSpPr>
        <p:spPr>
          <a:xfrm>
            <a:off x="176272" y="5607773"/>
            <a:ext cx="6411816" cy="923330"/>
          </a:xfrm>
          <a:prstGeom prst="rect">
            <a:avLst/>
          </a:prstGeom>
        </p:spPr>
        <p:txBody>
          <a:bodyPr wrap="square">
            <a:spAutoFit/>
          </a:bodyPr>
          <a:lstStyle/>
          <a:p>
            <a:r>
              <a:rPr lang="en-US" b="1" dirty="0">
                <a:solidFill>
                  <a:schemeClr val="bg1">
                    <a:lumMod val="50000"/>
                  </a:schemeClr>
                </a:solidFill>
              </a:rPr>
              <a:t>End-to-End Data Analytics Portfolio Project</a:t>
            </a:r>
          </a:p>
          <a:p>
            <a:r>
              <a:rPr lang="en-US" dirty="0">
                <a:solidFill>
                  <a:schemeClr val="bg1">
                    <a:lumMod val="50000"/>
                  </a:schemeClr>
                </a:solidFill>
              </a:rPr>
              <a:t>Prepared By</a:t>
            </a:r>
          </a:p>
          <a:p>
            <a:r>
              <a:rPr lang="en-US" b="1" dirty="0" err="1">
                <a:solidFill>
                  <a:schemeClr val="bg1">
                    <a:lumMod val="50000"/>
                  </a:schemeClr>
                </a:solidFill>
              </a:rPr>
              <a:t>Jitendra</a:t>
            </a:r>
            <a:r>
              <a:rPr lang="en-US" b="1" dirty="0">
                <a:solidFill>
                  <a:schemeClr val="bg1">
                    <a:lumMod val="50000"/>
                  </a:schemeClr>
                </a:solidFill>
              </a:rPr>
              <a:t> More</a:t>
            </a:r>
            <a:endParaRPr lang="en-US" dirty="0">
              <a:solidFill>
                <a:schemeClr val="bg1">
                  <a:lumMod val="50000"/>
                </a:schemeClr>
              </a:solidFill>
            </a:endParaRPr>
          </a:p>
        </p:txBody>
      </p:sp>
    </p:spTree>
    <p:extLst>
      <p:ext uri="{BB962C8B-B14F-4D97-AF65-F5344CB8AC3E}">
        <p14:creationId xmlns:p14="http://schemas.microsoft.com/office/powerpoint/2010/main" val="567103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6394CD41-827C-4F41-82FC-F81C4546E921}"/>
              </a:ext>
            </a:extLst>
          </p:cNvPr>
          <p:cNvSpPr>
            <a:spLocks noGrp="1"/>
          </p:cNvSpPr>
          <p:nvPr/>
        </p:nvSpPr>
        <p:spPr>
          <a:xfrm>
            <a:off x="365760" y="182880"/>
            <a:ext cx="10972800" cy="457200"/>
          </a:xfrm>
          <a:prstGeom prst="rect">
            <a:avLst/>
          </a:prstGeom>
          <a:noFill/>
        </p:spPr>
        <p:txBody>
          <a:bodyPr wrap="none">
            <a:spAutoFit/>
          </a:bodyPr>
          <a:lstStyle/>
          <a:p>
            <a:pPr algn="ctr">
              <a:buNone/>
              <a:defRPr sz="2600" b="1"/>
            </a:pPr>
            <a:r>
              <a:t>Total Products KPI</a:t>
            </a:r>
          </a:p>
        </p:txBody>
      </p:sp>
      <p:pic>
        <p:nvPicPr>
          <p:cNvPr id="7" name="Picture 2"/>
          <p:cNvPicPr>
            <a:picLocks noChangeAspect="1"/>
          </p:cNvPicPr>
          <p:nvPr/>
        </p:nvPicPr>
        <p:blipFill>
          <a:blip r:embed="rId3"/>
          <a:stretch>
            <a:fillRect/>
          </a:stretch>
        </p:blipFill>
        <p:spPr>
          <a:xfrm>
            <a:off x="365760" y="1249313"/>
            <a:ext cx="4821649" cy="3503799"/>
          </a:xfrm>
          <a:prstGeom prst="rect">
            <a:avLst/>
          </a:prstGeom>
        </p:spPr>
      </p:pic>
      <p:sp>
        <p:nvSpPr>
          <p:cNvPr id="4" name="TextBox 3">
            <a:extLst>
              <a:ext uri="{FF2B5EF4-FFF2-40B4-BE49-F238E27FC236}">
                <a16:creationId xmlns="" xmlns:a16="http://schemas.microsoft.com/office/drawing/2014/main" id="{441A5D7D-EA44-43A6-A5C6-5DC00D23F3DF}"/>
              </a:ext>
            </a:extLst>
          </p:cNvPr>
          <p:cNvSpPr>
            <a:spLocks noGrp="1"/>
          </p:cNvSpPr>
          <p:nvPr/>
        </p:nvSpPr>
        <p:spPr>
          <a:xfrm>
            <a:off x="5497417" y="1791937"/>
            <a:ext cx="6691408" cy="1346812"/>
          </a:xfrm>
          <a:prstGeom prst="rect">
            <a:avLst/>
          </a:prstGeom>
          <a:noFill/>
        </p:spPr>
        <p:txBody>
          <a:bodyPr wrap="square" lIns="114300" tIns="76200" rIns="114300" bIns="76200" anchor="t">
            <a:normAutofit/>
          </a:bodyPr>
          <a:lstStyle/>
          <a:p>
            <a:pPr marL="285750" indent="-285750" algn="l">
              <a:buFont typeface="Wingdings" panose="05000000000000000000" pitchFamily="2" charset="2"/>
              <a:buChar char="Ø"/>
              <a:defRPr sz="1700" b="1">
                <a:solidFill>
                  <a:srgbClr val="111111"/>
                </a:solidFill>
                <a:latin typeface="Calibri"/>
                <a:ea typeface="Calibri"/>
                <a:cs typeface="Calibri"/>
              </a:defRPr>
            </a:pPr>
            <a:r>
              <a:rPr sz="1700" b="1" dirty="0">
                <a:solidFill>
                  <a:schemeClr val="bg1">
                    <a:lumMod val="50000"/>
                  </a:schemeClr>
                </a:solidFill>
                <a:latin typeface="Calibri"/>
                <a:ea typeface="Calibri"/>
                <a:cs typeface="Calibri"/>
              </a:rPr>
              <a:t>1,348 unique products remained after cleaning 1,465 raw records. Product ID was used as the unique key, preventing repeated listings from inflating the KPI.</a:t>
            </a: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01756" y="115936"/>
            <a:ext cx="3106757" cy="1878475"/>
          </a:xfrm>
          <a:prstGeom prst="rect">
            <a:avLst/>
          </a:prstGeom>
          <a:ln>
            <a:noFill/>
          </a:ln>
          <a:effectLst>
            <a:outerShdw blurRad="292100" dist="139700" dir="2700000" algn="tl" rotWithShape="0">
              <a:srgbClr val="333333">
                <a:alpha val="65000"/>
              </a:srgbClr>
            </a:outerShdw>
          </a:effectLst>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39447" y="3533412"/>
            <a:ext cx="5031377" cy="3324588"/>
          </a:xfrm>
          <a:prstGeom prst="rect">
            <a:avLst/>
          </a:prstGeom>
        </p:spPr>
      </p:pic>
    </p:spTree>
    <p:extLst>
      <p:ext uri="{BB962C8B-B14F-4D97-AF65-F5344CB8AC3E}">
        <p14:creationId xmlns:p14="http://schemas.microsoft.com/office/powerpoint/2010/main" val="8994461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01E2D43E-94C7-40A6-A32F-5277C5F87A8D}"/>
              </a:ext>
            </a:extLst>
          </p:cNvPr>
          <p:cNvSpPr>
            <a:spLocks noGrp="1"/>
          </p:cNvSpPr>
          <p:nvPr/>
        </p:nvSpPr>
        <p:spPr>
          <a:xfrm>
            <a:off x="365760" y="182880"/>
            <a:ext cx="10972800" cy="457200"/>
          </a:xfrm>
          <a:prstGeom prst="rect">
            <a:avLst/>
          </a:prstGeom>
          <a:noFill/>
        </p:spPr>
        <p:txBody>
          <a:bodyPr wrap="none">
            <a:spAutoFit/>
          </a:bodyPr>
          <a:lstStyle/>
          <a:p>
            <a:pPr algn="ctr">
              <a:buNone/>
              <a:defRPr sz="2600" b="1"/>
            </a:pPr>
            <a:r>
              <a:t>Average Product Rating</a:t>
            </a:r>
          </a:p>
        </p:txBody>
      </p:sp>
      <p:pic>
        <p:nvPicPr>
          <p:cNvPr id="7" name="Picture 2"/>
          <p:cNvPicPr>
            <a:picLocks noChangeAspect="1"/>
          </p:cNvPicPr>
          <p:nvPr/>
        </p:nvPicPr>
        <p:blipFill>
          <a:blip r:embed="rId3"/>
          <a:stretch>
            <a:fillRect/>
          </a:stretch>
        </p:blipFill>
        <p:spPr>
          <a:xfrm>
            <a:off x="0" y="1417985"/>
            <a:ext cx="5331410" cy="3503799"/>
          </a:xfrm>
          <a:prstGeom prst="rect">
            <a:avLst/>
          </a:prstGeom>
        </p:spPr>
      </p:pic>
      <p:sp>
        <p:nvSpPr>
          <p:cNvPr id="4" name="TextBox 3">
            <a:extLst>
              <a:ext uri="{FF2B5EF4-FFF2-40B4-BE49-F238E27FC236}">
                <a16:creationId xmlns="" xmlns:a16="http://schemas.microsoft.com/office/drawing/2014/main" id="{BA09DB38-0698-412A-BE5E-76EC399FC156}"/>
              </a:ext>
            </a:extLst>
          </p:cNvPr>
          <p:cNvSpPr>
            <a:spLocks noGrp="1"/>
          </p:cNvSpPr>
          <p:nvPr/>
        </p:nvSpPr>
        <p:spPr>
          <a:xfrm>
            <a:off x="5684703" y="1700414"/>
            <a:ext cx="6504121" cy="1285157"/>
          </a:xfrm>
          <a:prstGeom prst="rect">
            <a:avLst/>
          </a:prstGeom>
          <a:noFill/>
        </p:spPr>
        <p:txBody>
          <a:bodyPr wrap="square" lIns="114300" tIns="76200" rIns="114300" bIns="76200" anchor="t">
            <a:normAutofit/>
          </a:bodyPr>
          <a:lstStyle/>
          <a:p>
            <a:pPr marL="285750" indent="-285750" algn="l">
              <a:buFont typeface="Wingdings" panose="05000000000000000000" pitchFamily="2" charset="2"/>
              <a:buChar char="Ø"/>
              <a:defRPr sz="1700" b="1">
                <a:solidFill>
                  <a:srgbClr val="111111"/>
                </a:solidFill>
                <a:latin typeface="Calibri"/>
                <a:ea typeface="Calibri"/>
                <a:cs typeface="Calibri"/>
              </a:defRPr>
            </a:pPr>
            <a:r>
              <a:rPr sz="1700" b="1" dirty="0">
                <a:solidFill>
                  <a:schemeClr val="bg1">
                    <a:lumMod val="50000"/>
                  </a:schemeClr>
                </a:solidFill>
                <a:latin typeface="Calibri"/>
                <a:ea typeface="Calibri"/>
                <a:cs typeface="Calibri"/>
              </a:rPr>
              <a:t>The average customer rating is 4.09 out of 5. Nearly 75% of products are rated 4.0 or higher, indicating generally positive customer satisfaction.</a:t>
            </a:r>
          </a:p>
        </p:txBody>
      </p:sp>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32089" y="182880"/>
            <a:ext cx="2584788" cy="1778122"/>
          </a:xfrm>
          <a:prstGeom prst="rect">
            <a:avLst/>
          </a:prstGeom>
          <a:ln>
            <a:noFill/>
          </a:ln>
          <a:effectLst>
            <a:outerShdw blurRad="292100" dist="139700" dir="2700000" algn="tl" rotWithShape="0">
              <a:srgbClr val="333333">
                <a:alpha val="65000"/>
              </a:srgbClr>
            </a:outerShdw>
          </a:effectLst>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36546" y="2873159"/>
            <a:ext cx="5498114" cy="3872429"/>
          </a:xfrm>
          <a:prstGeom prst="rect">
            <a:avLst/>
          </a:prstGeom>
        </p:spPr>
      </p:pic>
    </p:spTree>
    <p:extLst>
      <p:ext uri="{BB962C8B-B14F-4D97-AF65-F5344CB8AC3E}">
        <p14:creationId xmlns:p14="http://schemas.microsoft.com/office/powerpoint/2010/main" val="16571683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35167CCF-9630-4F4C-A82A-AD8688B5773D}"/>
              </a:ext>
            </a:extLst>
          </p:cNvPr>
          <p:cNvSpPr>
            <a:spLocks noGrp="1"/>
          </p:cNvSpPr>
          <p:nvPr/>
        </p:nvSpPr>
        <p:spPr>
          <a:xfrm>
            <a:off x="365760" y="182880"/>
            <a:ext cx="10972800" cy="457200"/>
          </a:xfrm>
          <a:prstGeom prst="rect">
            <a:avLst/>
          </a:prstGeom>
          <a:noFill/>
        </p:spPr>
        <p:txBody>
          <a:bodyPr wrap="none">
            <a:spAutoFit/>
          </a:bodyPr>
          <a:lstStyle/>
          <a:p>
            <a:pPr algn="ctr">
              <a:buNone/>
              <a:defRPr sz="2600" b="1"/>
            </a:pPr>
            <a:r>
              <a:t>Average Discount</a:t>
            </a:r>
          </a:p>
        </p:txBody>
      </p:sp>
      <p:pic>
        <p:nvPicPr>
          <p:cNvPr id="7" name="Picture 2"/>
          <p:cNvPicPr>
            <a:picLocks noChangeAspect="1"/>
          </p:cNvPicPr>
          <p:nvPr/>
        </p:nvPicPr>
        <p:blipFill>
          <a:blip r:embed="rId3"/>
          <a:stretch>
            <a:fillRect/>
          </a:stretch>
        </p:blipFill>
        <p:spPr>
          <a:xfrm>
            <a:off x="365760" y="1010350"/>
            <a:ext cx="4646915" cy="3503799"/>
          </a:xfrm>
          <a:prstGeom prst="rect">
            <a:avLst/>
          </a:prstGeom>
        </p:spPr>
      </p:pic>
      <p:sp>
        <p:nvSpPr>
          <p:cNvPr id="4" name="TextBox 3">
            <a:extLst>
              <a:ext uri="{FF2B5EF4-FFF2-40B4-BE49-F238E27FC236}">
                <a16:creationId xmlns="" xmlns:a16="http://schemas.microsoft.com/office/drawing/2014/main" id="{B80DBDFC-AFC6-48C8-9DD8-0477562F7A96}"/>
              </a:ext>
            </a:extLst>
          </p:cNvPr>
          <p:cNvSpPr>
            <a:spLocks noGrp="1"/>
          </p:cNvSpPr>
          <p:nvPr/>
        </p:nvSpPr>
        <p:spPr>
          <a:xfrm>
            <a:off x="5343181" y="1485683"/>
            <a:ext cx="6569725" cy="1000853"/>
          </a:xfrm>
          <a:prstGeom prst="rect">
            <a:avLst/>
          </a:prstGeom>
          <a:noFill/>
        </p:spPr>
        <p:txBody>
          <a:bodyPr wrap="square" lIns="114300" tIns="76200" rIns="114300" bIns="76200" anchor="t">
            <a:normAutofit/>
          </a:bodyPr>
          <a:lstStyle/>
          <a:p>
            <a:pPr marL="285750" indent="-285750" algn="l">
              <a:buFont typeface="Wingdings" panose="05000000000000000000" pitchFamily="2" charset="2"/>
              <a:buChar char="Ø"/>
              <a:defRPr sz="1700" b="1">
                <a:solidFill>
                  <a:srgbClr val="111111"/>
                </a:solidFill>
                <a:latin typeface="Calibri"/>
                <a:ea typeface="Calibri"/>
                <a:cs typeface="Calibri"/>
              </a:defRPr>
            </a:pPr>
            <a:r>
              <a:rPr sz="1700" b="1" dirty="0">
                <a:solidFill>
                  <a:schemeClr val="bg1">
                    <a:lumMod val="50000"/>
                  </a:schemeClr>
                </a:solidFill>
                <a:latin typeface="Calibri"/>
                <a:ea typeface="Calibri"/>
                <a:cs typeface="Calibri"/>
              </a:rPr>
              <a:t>The average discount is 46.66%, displayed as 46.7% after rounding. Discounts are common, but they should be evaluated together with margin and customer response.</a:t>
            </a:r>
          </a:p>
        </p:txBody>
      </p:sp>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28923" y="-122227"/>
            <a:ext cx="2543037" cy="1730690"/>
          </a:xfrm>
          <a:prstGeom prst="rect">
            <a:avLst/>
          </a:prstGeom>
          <a:ln>
            <a:noFill/>
          </a:ln>
          <a:effectLst>
            <a:outerShdw blurRad="292100" dist="139700" dir="2700000" algn="tl" rotWithShape="0">
              <a:srgbClr val="333333">
                <a:alpha val="65000"/>
              </a:srgbClr>
            </a:outerShdw>
          </a:effectLst>
        </p:spPr>
      </p:pic>
      <p:pic>
        <p:nvPicPr>
          <p:cNvPr id="5" name="Picture 4"/>
          <p:cNvPicPr>
            <a:picLocks noChangeAspect="1"/>
          </p:cNvPicPr>
          <p:nvPr/>
        </p:nvPicPr>
        <p:blipFill rotWithShape="1">
          <a:blip r:embed="rId5">
            <a:extLst>
              <a:ext uri="{28A0092B-C50C-407E-A947-70E740481C1C}">
                <a14:useLocalDpi xmlns:a14="http://schemas.microsoft.com/office/drawing/2010/main" val="0"/>
              </a:ext>
            </a:extLst>
          </a:blip>
          <a:srcRect t="2735" b="1237"/>
          <a:stretch/>
        </p:blipFill>
        <p:spPr>
          <a:xfrm>
            <a:off x="5829759" y="2919470"/>
            <a:ext cx="5596568" cy="4089553"/>
          </a:xfrm>
          <a:prstGeom prst="rect">
            <a:avLst/>
          </a:prstGeom>
        </p:spPr>
      </p:pic>
    </p:spTree>
    <p:extLst>
      <p:ext uri="{BB962C8B-B14F-4D97-AF65-F5344CB8AC3E}">
        <p14:creationId xmlns:p14="http://schemas.microsoft.com/office/powerpoint/2010/main" val="1499296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AACB909E-14FF-4FA7-9A1F-34911F74A74D}"/>
              </a:ext>
            </a:extLst>
          </p:cNvPr>
          <p:cNvSpPr>
            <a:spLocks noGrp="1"/>
          </p:cNvSpPr>
          <p:nvPr/>
        </p:nvSpPr>
        <p:spPr>
          <a:xfrm>
            <a:off x="365760" y="204914"/>
            <a:ext cx="10972800" cy="457200"/>
          </a:xfrm>
          <a:prstGeom prst="rect">
            <a:avLst/>
          </a:prstGeom>
          <a:noFill/>
        </p:spPr>
        <p:txBody>
          <a:bodyPr wrap="none">
            <a:spAutoFit/>
          </a:bodyPr>
          <a:lstStyle/>
          <a:p>
            <a:pPr algn="ctr">
              <a:buNone/>
              <a:defRPr sz="2600" b="1"/>
            </a:pPr>
            <a:r>
              <a:t>Total Reviews</a:t>
            </a:r>
          </a:p>
        </p:txBody>
      </p:sp>
      <p:pic>
        <p:nvPicPr>
          <p:cNvPr id="7" name="Picture 2"/>
          <p:cNvPicPr>
            <a:picLocks noChangeAspect="1"/>
          </p:cNvPicPr>
          <p:nvPr/>
        </p:nvPicPr>
        <p:blipFill>
          <a:blip r:embed="rId3"/>
          <a:stretch>
            <a:fillRect/>
          </a:stretch>
        </p:blipFill>
        <p:spPr>
          <a:xfrm>
            <a:off x="365760" y="885756"/>
            <a:ext cx="4206240" cy="3503799"/>
          </a:xfrm>
          <a:prstGeom prst="rect">
            <a:avLst/>
          </a:prstGeom>
        </p:spPr>
      </p:pic>
      <p:sp>
        <p:nvSpPr>
          <p:cNvPr id="4" name="TextBox 3">
            <a:extLst>
              <a:ext uri="{FF2B5EF4-FFF2-40B4-BE49-F238E27FC236}">
                <a16:creationId xmlns="" xmlns:a16="http://schemas.microsoft.com/office/drawing/2014/main" id="{D37B6D6B-6BDA-473F-81E6-57E2D411E6E6}"/>
              </a:ext>
            </a:extLst>
          </p:cNvPr>
          <p:cNvSpPr>
            <a:spLocks noGrp="1"/>
          </p:cNvSpPr>
          <p:nvPr/>
        </p:nvSpPr>
        <p:spPr>
          <a:xfrm>
            <a:off x="4891489" y="1702177"/>
            <a:ext cx="7381301" cy="1335795"/>
          </a:xfrm>
          <a:prstGeom prst="rect">
            <a:avLst/>
          </a:prstGeom>
          <a:noFill/>
        </p:spPr>
        <p:txBody>
          <a:bodyPr wrap="square" lIns="114300" tIns="76200" rIns="114300" bIns="76200" anchor="t">
            <a:normAutofit/>
          </a:bodyPr>
          <a:lstStyle/>
          <a:p>
            <a:pPr marL="285750" indent="-285750" algn="l">
              <a:buFont typeface="Wingdings" panose="05000000000000000000" pitchFamily="2" charset="2"/>
              <a:buChar char="Ø"/>
              <a:defRPr sz="1700" b="1">
                <a:solidFill>
                  <a:srgbClr val="111111"/>
                </a:solidFill>
                <a:latin typeface="Calibri"/>
                <a:ea typeface="Calibri"/>
                <a:cs typeface="Calibri"/>
              </a:defRPr>
            </a:pPr>
            <a:r>
              <a:rPr sz="1700" b="1" dirty="0">
                <a:solidFill>
                  <a:schemeClr val="bg1">
                    <a:lumMod val="50000"/>
                  </a:schemeClr>
                </a:solidFill>
                <a:latin typeface="Calibri"/>
                <a:ea typeface="Calibri"/>
                <a:cs typeface="Calibri"/>
              </a:rPr>
              <a:t>The cleaned product dataset represents 23,801,431 customer reviews. Product-level cleaning was applied before aggregation to avoid inflated totals.</a:t>
            </a:r>
          </a:p>
        </p:txBody>
      </p:sp>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11805" y="316981"/>
            <a:ext cx="2575416" cy="1708295"/>
          </a:xfrm>
          <a:prstGeom prst="rect">
            <a:avLst/>
          </a:prstGeom>
          <a:ln>
            <a:noFill/>
          </a:ln>
          <a:effectLst>
            <a:outerShdw blurRad="292100" dist="139700" dir="2700000" algn="tl" rotWithShape="0">
              <a:srgbClr val="333333">
                <a:alpha val="65000"/>
              </a:srgbClr>
            </a:outerShdw>
          </a:effectLst>
        </p:spPr>
      </p:pic>
      <p:pic>
        <p:nvPicPr>
          <p:cNvPr id="5" name="Picture 4"/>
          <p:cNvPicPr>
            <a:picLocks noChangeAspect="1"/>
          </p:cNvPicPr>
          <p:nvPr/>
        </p:nvPicPr>
        <p:blipFill rotWithShape="1">
          <a:blip r:embed="rId5">
            <a:extLst>
              <a:ext uri="{28A0092B-C50C-407E-A947-70E740481C1C}">
                <a14:useLocalDpi xmlns:a14="http://schemas.microsoft.com/office/drawing/2010/main" val="0"/>
              </a:ext>
            </a:extLst>
          </a:blip>
          <a:srcRect l="1273" t="1730" r="1119" b="1573"/>
          <a:stretch/>
        </p:blipFill>
        <p:spPr>
          <a:xfrm>
            <a:off x="5034708" y="3194892"/>
            <a:ext cx="6929610" cy="3580481"/>
          </a:xfrm>
          <a:prstGeom prst="rect">
            <a:avLst/>
          </a:prstGeom>
        </p:spPr>
      </p:pic>
    </p:spTree>
    <p:extLst>
      <p:ext uri="{BB962C8B-B14F-4D97-AF65-F5344CB8AC3E}">
        <p14:creationId xmlns:p14="http://schemas.microsoft.com/office/powerpoint/2010/main" val="15770015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7D2FA634-5A07-4942-9693-7A9DD73409F1}"/>
              </a:ext>
            </a:extLst>
          </p:cNvPr>
          <p:cNvSpPr>
            <a:spLocks noGrp="1"/>
          </p:cNvSpPr>
          <p:nvPr/>
        </p:nvSpPr>
        <p:spPr>
          <a:xfrm>
            <a:off x="365760" y="182880"/>
            <a:ext cx="10972800" cy="457200"/>
          </a:xfrm>
          <a:prstGeom prst="rect">
            <a:avLst/>
          </a:prstGeom>
          <a:noFill/>
        </p:spPr>
        <p:txBody>
          <a:bodyPr wrap="none">
            <a:spAutoFit/>
          </a:bodyPr>
          <a:lstStyle/>
          <a:p>
            <a:pPr algn="ctr">
              <a:buNone/>
              <a:defRPr sz="2600" b="1"/>
            </a:pPr>
            <a:r>
              <a:t>Rating Distribution</a:t>
            </a:r>
          </a:p>
        </p:txBody>
      </p:sp>
      <p:pic>
        <p:nvPicPr>
          <p:cNvPr id="7" name="Picture 2"/>
          <p:cNvPicPr>
            <a:picLocks noChangeAspect="1"/>
          </p:cNvPicPr>
          <p:nvPr/>
        </p:nvPicPr>
        <p:blipFill>
          <a:blip r:embed="rId3"/>
          <a:stretch>
            <a:fillRect/>
          </a:stretch>
        </p:blipFill>
        <p:spPr>
          <a:xfrm>
            <a:off x="95976" y="837282"/>
            <a:ext cx="6290631" cy="3330766"/>
          </a:xfrm>
          <a:prstGeom prst="rect">
            <a:avLst/>
          </a:prstGeom>
        </p:spPr>
      </p:pic>
      <p:sp>
        <p:nvSpPr>
          <p:cNvPr id="4" name="TextBox 3">
            <a:extLst>
              <a:ext uri="{FF2B5EF4-FFF2-40B4-BE49-F238E27FC236}">
                <a16:creationId xmlns="" xmlns:a16="http://schemas.microsoft.com/office/drawing/2014/main" id="{EEAC5E98-B882-4D79-8368-3988EF4EDC6B}"/>
              </a:ext>
            </a:extLst>
          </p:cNvPr>
          <p:cNvSpPr>
            <a:spLocks noGrp="1"/>
          </p:cNvSpPr>
          <p:nvPr/>
        </p:nvSpPr>
        <p:spPr>
          <a:xfrm>
            <a:off x="7071360" y="714444"/>
            <a:ext cx="4267200" cy="928171"/>
          </a:xfrm>
          <a:prstGeom prst="rect">
            <a:avLst/>
          </a:prstGeom>
          <a:noFill/>
        </p:spPr>
        <p:txBody>
          <a:bodyPr wrap="square" lIns="114300" tIns="76200" rIns="114300" bIns="76200" anchor="t">
            <a:normAutofit lnSpcReduction="10000"/>
          </a:bodyPr>
          <a:lstStyle/>
          <a:p>
            <a:pPr marL="285750" indent="-285750" algn="l">
              <a:buFont typeface="Wingdings" panose="05000000000000000000" pitchFamily="2" charset="2"/>
              <a:buChar char="Ø"/>
              <a:defRPr sz="1700" b="1">
                <a:solidFill>
                  <a:srgbClr val="111111"/>
                </a:solidFill>
                <a:latin typeface="Calibri"/>
                <a:ea typeface="Calibri"/>
                <a:cs typeface="Calibri"/>
              </a:defRPr>
            </a:pPr>
            <a:r>
              <a:rPr sz="1700" i="1" dirty="0">
                <a:solidFill>
                  <a:schemeClr val="bg1">
                    <a:lumMod val="50000"/>
                  </a:schemeClr>
                </a:solidFill>
                <a:latin typeface="Calibri"/>
                <a:ea typeface="Calibri"/>
                <a:cs typeface="Calibri"/>
              </a:rPr>
              <a:t>914 products fall between 4.0 and 4.4 stars. Overall, 1,009 of 1,348 products have ratings of 4.0 or higher.</a:t>
            </a:r>
          </a:p>
        </p:txBody>
      </p:sp>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2600" t="1561" r="1982"/>
          <a:stretch/>
        </p:blipFill>
        <p:spPr>
          <a:xfrm>
            <a:off x="7777908" y="2170323"/>
            <a:ext cx="2754218" cy="4493606"/>
          </a:xfrm>
          <a:prstGeom prst="rect">
            <a:avLst/>
          </a:prstGeom>
        </p:spPr>
      </p:pic>
      <p:sp>
        <p:nvSpPr>
          <p:cNvPr id="6" name="Rectangle 5"/>
          <p:cNvSpPr/>
          <p:nvPr/>
        </p:nvSpPr>
        <p:spPr>
          <a:xfrm>
            <a:off x="242372" y="4296577"/>
            <a:ext cx="6375592" cy="2308324"/>
          </a:xfrm>
          <a:prstGeom prst="rect">
            <a:avLst/>
          </a:prstGeom>
        </p:spPr>
        <p:txBody>
          <a:bodyPr wrap="square">
            <a:spAutoFit/>
          </a:bodyPr>
          <a:lstStyle/>
          <a:p>
            <a:pPr marL="285750" indent="-285750" algn="just">
              <a:buFont typeface="Wingdings" panose="05000000000000000000" pitchFamily="2" charset="2"/>
              <a:buChar char="ü"/>
            </a:pPr>
            <a:r>
              <a:rPr lang="en-US" b="1" dirty="0">
                <a:solidFill>
                  <a:schemeClr val="bg1">
                    <a:lumMod val="50000"/>
                  </a:schemeClr>
                </a:solidFill>
              </a:rPr>
              <a:t>SQL validates the exact values, while visualizations highlight overall patterns.</a:t>
            </a:r>
            <a:endParaRPr lang="en-US" dirty="0">
              <a:solidFill>
                <a:schemeClr val="bg1">
                  <a:lumMod val="50000"/>
                </a:schemeClr>
              </a:solidFill>
            </a:endParaRPr>
          </a:p>
          <a:p>
            <a:pPr marL="285750" indent="-285750" algn="just">
              <a:buFont typeface="Wingdings" panose="05000000000000000000" pitchFamily="2" charset="2"/>
              <a:buChar char="ü"/>
            </a:pPr>
            <a:r>
              <a:rPr lang="en-US" b="1" dirty="0">
                <a:solidFill>
                  <a:schemeClr val="bg1">
                    <a:lumMod val="50000"/>
                  </a:schemeClr>
                </a:solidFill>
              </a:rPr>
              <a:t>Most products are rated between 4.0 and 4.4, indicating strong customer satisfaction.</a:t>
            </a:r>
            <a:endParaRPr lang="en-US" dirty="0">
              <a:solidFill>
                <a:schemeClr val="bg1">
                  <a:lumMod val="50000"/>
                </a:schemeClr>
              </a:solidFill>
            </a:endParaRPr>
          </a:p>
          <a:p>
            <a:pPr marL="285750" indent="-285750" algn="just">
              <a:buFont typeface="Wingdings" panose="05000000000000000000" pitchFamily="2" charset="2"/>
              <a:buChar char="ü"/>
            </a:pPr>
            <a:r>
              <a:rPr lang="en-US" b="1" dirty="0">
                <a:solidFill>
                  <a:schemeClr val="bg1">
                    <a:lumMod val="50000"/>
                  </a:schemeClr>
                </a:solidFill>
              </a:rPr>
              <a:t>A majority of products fall within the 40%–79% discount range, showing aggressive promotional strategies.</a:t>
            </a:r>
            <a:endParaRPr lang="en-US" dirty="0">
              <a:solidFill>
                <a:schemeClr val="bg1">
                  <a:lumMod val="50000"/>
                </a:schemeClr>
              </a:solidFill>
            </a:endParaRPr>
          </a:p>
          <a:p>
            <a:pPr marL="285750" indent="-285750" algn="just">
              <a:buFont typeface="Wingdings" panose="05000000000000000000" pitchFamily="2" charset="2"/>
              <a:buChar char="ü"/>
            </a:pPr>
            <a:r>
              <a:rPr lang="en-US" b="1" dirty="0">
                <a:solidFill>
                  <a:schemeClr val="bg1">
                    <a:lumMod val="50000"/>
                  </a:schemeClr>
                </a:solidFill>
              </a:rPr>
              <a:t>Overall, the dataset reflects a high-performing product ecosystem with strong ratings and competitive pricing.</a:t>
            </a:r>
            <a:endParaRPr lang="en-US" dirty="0">
              <a:solidFill>
                <a:schemeClr val="bg1">
                  <a:lumMod val="50000"/>
                </a:schemeClr>
              </a:solidFill>
            </a:endParaRPr>
          </a:p>
        </p:txBody>
      </p:sp>
    </p:spTree>
    <p:extLst>
      <p:ext uri="{BB962C8B-B14F-4D97-AF65-F5344CB8AC3E}">
        <p14:creationId xmlns:p14="http://schemas.microsoft.com/office/powerpoint/2010/main" val="1454184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792F5B5C-75C9-4B48-B478-374AEBD17B06}"/>
              </a:ext>
            </a:extLst>
          </p:cNvPr>
          <p:cNvSpPr>
            <a:spLocks noGrp="1"/>
          </p:cNvSpPr>
          <p:nvPr/>
        </p:nvSpPr>
        <p:spPr>
          <a:xfrm>
            <a:off x="365760" y="182880"/>
            <a:ext cx="10972800" cy="457200"/>
          </a:xfrm>
          <a:prstGeom prst="rect">
            <a:avLst/>
          </a:prstGeom>
          <a:noFill/>
        </p:spPr>
        <p:txBody>
          <a:bodyPr wrap="none">
            <a:spAutoFit/>
          </a:bodyPr>
          <a:lstStyle/>
          <a:p>
            <a:pPr algn="ctr">
              <a:buNone/>
              <a:defRPr sz="2600" b="1"/>
            </a:pPr>
            <a:r>
              <a:t>Discount Distribution</a:t>
            </a:r>
          </a:p>
        </p:txBody>
      </p:sp>
      <p:pic>
        <p:nvPicPr>
          <p:cNvPr id="7" name="Picture 2"/>
          <p:cNvPicPr>
            <a:picLocks noChangeAspect="1"/>
          </p:cNvPicPr>
          <p:nvPr/>
        </p:nvPicPr>
        <p:blipFill>
          <a:blip r:embed="rId3"/>
          <a:stretch>
            <a:fillRect/>
          </a:stretch>
        </p:blipFill>
        <p:spPr>
          <a:xfrm>
            <a:off x="88135" y="1696597"/>
            <a:ext cx="6675120" cy="4450080"/>
          </a:xfrm>
          <a:prstGeom prst="rect">
            <a:avLst/>
          </a:prstGeom>
        </p:spPr>
      </p:pic>
      <p:sp>
        <p:nvSpPr>
          <p:cNvPr id="4" name="TextBox 3">
            <a:extLst>
              <a:ext uri="{FF2B5EF4-FFF2-40B4-BE49-F238E27FC236}">
                <a16:creationId xmlns="" xmlns:a16="http://schemas.microsoft.com/office/drawing/2014/main" id="{D4E0796C-32DF-44A2-895F-2349EC26A6AF}"/>
              </a:ext>
            </a:extLst>
          </p:cNvPr>
          <p:cNvSpPr>
            <a:spLocks noGrp="1"/>
          </p:cNvSpPr>
          <p:nvPr/>
        </p:nvSpPr>
        <p:spPr>
          <a:xfrm>
            <a:off x="242371" y="801477"/>
            <a:ext cx="11340029" cy="895120"/>
          </a:xfrm>
          <a:prstGeom prst="rect">
            <a:avLst/>
          </a:prstGeom>
          <a:noFill/>
        </p:spPr>
        <p:txBody>
          <a:bodyPr wrap="square" lIns="114300" tIns="76200" rIns="114300" bIns="76200" anchor="t">
            <a:normAutofit/>
          </a:bodyPr>
          <a:lstStyle/>
          <a:p>
            <a:pPr marL="285750" indent="-285750" algn="l">
              <a:buFont typeface="Wingdings" panose="05000000000000000000" pitchFamily="2" charset="2"/>
              <a:buChar char="Ø"/>
              <a:defRPr sz="1700" b="1">
                <a:solidFill>
                  <a:srgbClr val="111111"/>
                </a:solidFill>
                <a:latin typeface="Calibri"/>
                <a:ea typeface="Calibri"/>
                <a:cs typeface="Calibri"/>
              </a:defRPr>
            </a:pPr>
            <a:r>
              <a:rPr sz="1700" b="1" dirty="0">
                <a:solidFill>
                  <a:schemeClr val="bg1">
                    <a:lumMod val="50000"/>
                  </a:schemeClr>
                </a:solidFill>
                <a:latin typeface="Calibri"/>
                <a:ea typeface="Calibri"/>
                <a:cs typeface="Calibri"/>
              </a:rPr>
              <a:t>791 products, about 59% of the dataset, offer discounts between 40% and 79%. This indicates aggressive promotional pricing</a:t>
            </a:r>
            <a:r>
              <a:rPr sz="1700" b="1" dirty="0">
                <a:solidFill>
                  <a:srgbClr val="111111"/>
                </a:solidFill>
                <a:latin typeface="Calibri"/>
                <a:ea typeface="Calibri"/>
                <a:cs typeface="Calibri"/>
              </a:rPr>
              <a:t>.</a:t>
            </a:r>
          </a:p>
        </p:txBody>
      </p:sp>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2394" t="2727" r="1938" b="2229"/>
          <a:stretch/>
        </p:blipFill>
        <p:spPr>
          <a:xfrm>
            <a:off x="7021417" y="2252582"/>
            <a:ext cx="4560983" cy="3338110"/>
          </a:xfrm>
          <a:prstGeom prst="rect">
            <a:avLst/>
          </a:prstGeom>
        </p:spPr>
      </p:pic>
    </p:spTree>
    <p:extLst>
      <p:ext uri="{BB962C8B-B14F-4D97-AF65-F5344CB8AC3E}">
        <p14:creationId xmlns:p14="http://schemas.microsoft.com/office/powerpoint/2010/main" val="2567917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AF151CE5-D9D1-4F7C-A16A-1CEA515C263E}"/>
              </a:ext>
            </a:extLst>
          </p:cNvPr>
          <p:cNvSpPr>
            <a:spLocks noGrp="1"/>
          </p:cNvSpPr>
          <p:nvPr/>
        </p:nvSpPr>
        <p:spPr>
          <a:xfrm>
            <a:off x="365760" y="182880"/>
            <a:ext cx="10972800" cy="457200"/>
          </a:xfrm>
          <a:prstGeom prst="rect">
            <a:avLst/>
          </a:prstGeom>
          <a:noFill/>
        </p:spPr>
        <p:txBody>
          <a:bodyPr wrap="none">
            <a:spAutoFit/>
          </a:bodyPr>
          <a:lstStyle/>
          <a:p>
            <a:pPr algn="ctr">
              <a:buNone/>
              <a:defRPr sz="2600" b="1"/>
            </a:pPr>
            <a:r>
              <a:t>Top 10 Highest Rated Products</a:t>
            </a:r>
          </a:p>
        </p:txBody>
      </p:sp>
      <p:pic>
        <p:nvPicPr>
          <p:cNvPr id="7" name="Picture 2"/>
          <p:cNvPicPr>
            <a:picLocks noChangeAspect="1"/>
          </p:cNvPicPr>
          <p:nvPr/>
        </p:nvPicPr>
        <p:blipFill>
          <a:blip r:embed="rId3"/>
          <a:stretch>
            <a:fillRect/>
          </a:stretch>
        </p:blipFill>
        <p:spPr>
          <a:xfrm>
            <a:off x="0" y="731520"/>
            <a:ext cx="5296910" cy="3978102"/>
          </a:xfrm>
          <a:prstGeom prst="rect">
            <a:avLst/>
          </a:prstGeom>
        </p:spPr>
      </p:pic>
      <p:sp>
        <p:nvSpPr>
          <p:cNvPr id="4" name="TextBox 3">
            <a:extLst>
              <a:ext uri="{FF2B5EF4-FFF2-40B4-BE49-F238E27FC236}">
                <a16:creationId xmlns="" xmlns:a16="http://schemas.microsoft.com/office/drawing/2014/main" id="{675A26B2-E341-4C0F-A2B1-434D82AC7B97}"/>
              </a:ext>
            </a:extLst>
          </p:cNvPr>
          <p:cNvSpPr>
            <a:spLocks noGrp="1"/>
          </p:cNvSpPr>
          <p:nvPr/>
        </p:nvSpPr>
        <p:spPr>
          <a:xfrm>
            <a:off x="5438162" y="1143000"/>
            <a:ext cx="6460054" cy="1342798"/>
          </a:xfrm>
          <a:prstGeom prst="rect">
            <a:avLst/>
          </a:prstGeom>
          <a:noFill/>
        </p:spPr>
        <p:txBody>
          <a:bodyPr wrap="square" lIns="114300" tIns="76200" rIns="114300" bIns="76200" anchor="t">
            <a:normAutofit/>
          </a:bodyPr>
          <a:lstStyle/>
          <a:p>
            <a:pPr marL="285750" indent="-285750" algn="l">
              <a:buFont typeface="Wingdings" panose="05000000000000000000" pitchFamily="2" charset="2"/>
              <a:buChar char="Ø"/>
              <a:defRPr sz="1700" b="1">
                <a:solidFill>
                  <a:srgbClr val="111111"/>
                </a:solidFill>
                <a:latin typeface="Calibri"/>
                <a:ea typeface="Calibri"/>
                <a:cs typeface="Calibri"/>
              </a:defRPr>
            </a:pPr>
            <a:r>
              <a:rPr sz="1700" b="1" dirty="0">
                <a:solidFill>
                  <a:schemeClr val="bg1">
                    <a:lumMod val="50000"/>
                  </a:schemeClr>
                </a:solidFill>
                <a:latin typeface="Calibri"/>
                <a:ea typeface="Calibri"/>
                <a:cs typeface="Calibri"/>
              </a:rPr>
              <a:t>The leading products are rated between 4.7 and 5.0. Rating count should also be used as a tie-breaker because ratings supported by more reviews are more reliable.</a:t>
            </a: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0290" y="2371616"/>
            <a:ext cx="5142673" cy="4067743"/>
          </a:xfrm>
          <a:prstGeom prst="rect">
            <a:avLst/>
          </a:prstGeom>
        </p:spPr>
      </p:pic>
      <p:sp>
        <p:nvSpPr>
          <p:cNvPr id="8" name="Rectangle 7"/>
          <p:cNvSpPr/>
          <p:nvPr/>
        </p:nvSpPr>
        <p:spPr>
          <a:xfrm>
            <a:off x="110169" y="4978702"/>
            <a:ext cx="6930711" cy="646331"/>
          </a:xfrm>
          <a:prstGeom prst="rect">
            <a:avLst/>
          </a:prstGeom>
        </p:spPr>
        <p:txBody>
          <a:bodyPr wrap="square">
            <a:spAutoFit/>
          </a:bodyPr>
          <a:lstStyle/>
          <a:p>
            <a:pPr marL="285750" indent="-285750">
              <a:buFont typeface="Wingdings" panose="05000000000000000000" pitchFamily="2" charset="2"/>
              <a:buChar char="ü"/>
            </a:pPr>
            <a:r>
              <a:rPr lang="en-US" dirty="0">
                <a:solidFill>
                  <a:schemeClr val="bg1">
                    <a:lumMod val="50000"/>
                  </a:schemeClr>
                </a:solidFill>
              </a:rPr>
              <a:t>“Products are ranked based on rating, and in case of equal ratings, review count is used to ensure more reliable results.”</a:t>
            </a:r>
          </a:p>
        </p:txBody>
      </p:sp>
    </p:spTree>
    <p:extLst>
      <p:ext uri="{BB962C8B-B14F-4D97-AF65-F5344CB8AC3E}">
        <p14:creationId xmlns:p14="http://schemas.microsoft.com/office/powerpoint/2010/main" val="19528911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6AD890D5-420E-405F-B0B6-7411B3F05217}"/>
              </a:ext>
            </a:extLst>
          </p:cNvPr>
          <p:cNvSpPr>
            <a:spLocks noGrp="1"/>
          </p:cNvSpPr>
          <p:nvPr/>
        </p:nvSpPr>
        <p:spPr>
          <a:xfrm>
            <a:off x="365760" y="182880"/>
            <a:ext cx="10972800" cy="457200"/>
          </a:xfrm>
          <a:prstGeom prst="rect">
            <a:avLst/>
          </a:prstGeom>
          <a:noFill/>
        </p:spPr>
        <p:txBody>
          <a:bodyPr wrap="none">
            <a:spAutoFit/>
          </a:bodyPr>
          <a:lstStyle/>
          <a:p>
            <a:pPr algn="ctr">
              <a:buNone/>
              <a:defRPr sz="2600" b="1"/>
            </a:pPr>
            <a:r>
              <a:t>Top 10 Most Reviewed Products</a:t>
            </a:r>
          </a:p>
        </p:txBody>
      </p:sp>
      <p:pic>
        <p:nvPicPr>
          <p:cNvPr id="7" name="Picture 2"/>
          <p:cNvPicPr>
            <a:picLocks noChangeAspect="1"/>
          </p:cNvPicPr>
          <p:nvPr/>
        </p:nvPicPr>
        <p:blipFill>
          <a:blip r:embed="rId3"/>
          <a:stretch>
            <a:fillRect/>
          </a:stretch>
        </p:blipFill>
        <p:spPr>
          <a:xfrm>
            <a:off x="0" y="731520"/>
            <a:ext cx="5594365" cy="3730311"/>
          </a:xfrm>
          <a:prstGeom prst="rect">
            <a:avLst/>
          </a:prstGeom>
        </p:spPr>
      </p:pic>
      <p:sp>
        <p:nvSpPr>
          <p:cNvPr id="4" name="TextBox 3">
            <a:extLst>
              <a:ext uri="{FF2B5EF4-FFF2-40B4-BE49-F238E27FC236}">
                <a16:creationId xmlns="" xmlns:a16="http://schemas.microsoft.com/office/drawing/2014/main" id="{9B886CD1-7060-40A9-9310-0B526CBC0267}"/>
              </a:ext>
            </a:extLst>
          </p:cNvPr>
          <p:cNvSpPr>
            <a:spLocks noGrp="1"/>
          </p:cNvSpPr>
          <p:nvPr/>
        </p:nvSpPr>
        <p:spPr>
          <a:xfrm>
            <a:off x="6180463" y="1143000"/>
            <a:ext cx="6008362" cy="1126475"/>
          </a:xfrm>
          <a:prstGeom prst="rect">
            <a:avLst/>
          </a:prstGeom>
          <a:noFill/>
        </p:spPr>
        <p:txBody>
          <a:bodyPr wrap="square" lIns="114300" tIns="76200" rIns="114300" bIns="76200" anchor="t">
            <a:normAutofit/>
          </a:bodyPr>
          <a:lstStyle/>
          <a:p>
            <a:pPr marL="285750" indent="-285750" algn="l">
              <a:buFont typeface="Wingdings" panose="05000000000000000000" pitchFamily="2" charset="2"/>
              <a:buChar char="ü"/>
              <a:defRPr sz="1700" b="1">
                <a:solidFill>
                  <a:srgbClr val="111111"/>
                </a:solidFill>
                <a:latin typeface="Calibri"/>
                <a:ea typeface="Calibri"/>
                <a:cs typeface="Calibri"/>
              </a:defRPr>
            </a:pPr>
            <a:r>
              <a:rPr sz="1700" b="1" dirty="0">
                <a:solidFill>
                  <a:schemeClr val="bg1">
                    <a:lumMod val="50000"/>
                  </a:schemeClr>
                </a:solidFill>
                <a:latin typeface="Calibri"/>
                <a:ea typeface="Calibri"/>
                <a:cs typeface="Calibri"/>
              </a:rPr>
              <a:t>Amazon Basics HDMI cable variants lead with 426,973 reviews. Similar names in the chart represent different product IDs or variants, not duplicate records.</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13006" y="2438128"/>
            <a:ext cx="4471587" cy="4194025"/>
          </a:xfrm>
          <a:prstGeom prst="rect">
            <a:avLst/>
          </a:prstGeom>
        </p:spPr>
      </p:pic>
      <p:sp>
        <p:nvSpPr>
          <p:cNvPr id="5" name="Rectangle 4"/>
          <p:cNvSpPr/>
          <p:nvPr/>
        </p:nvSpPr>
        <p:spPr>
          <a:xfrm>
            <a:off x="492087" y="4782398"/>
            <a:ext cx="6092825" cy="1754326"/>
          </a:xfrm>
          <a:prstGeom prst="rect">
            <a:avLst/>
          </a:prstGeom>
        </p:spPr>
        <p:txBody>
          <a:bodyPr>
            <a:spAutoFit/>
          </a:bodyPr>
          <a:lstStyle/>
          <a:p>
            <a:pPr marL="285750" indent="-285750">
              <a:buFont typeface="Wingdings" panose="05000000000000000000" pitchFamily="2" charset="2"/>
              <a:buChar char="ü"/>
            </a:pPr>
            <a:r>
              <a:rPr lang="en-US" b="1" dirty="0">
                <a:solidFill>
                  <a:schemeClr val="bg1">
                    <a:lumMod val="65000"/>
                  </a:schemeClr>
                </a:solidFill>
              </a:rPr>
              <a:t>The most reviewed products indicate high customer engagement and market demand.</a:t>
            </a:r>
            <a:endParaRPr lang="en-US" dirty="0">
              <a:solidFill>
                <a:schemeClr val="bg1">
                  <a:lumMod val="65000"/>
                </a:schemeClr>
              </a:solidFill>
            </a:endParaRPr>
          </a:p>
          <a:p>
            <a:pPr marL="285750" indent="-285750">
              <a:buFont typeface="Wingdings" panose="05000000000000000000" pitchFamily="2" charset="2"/>
              <a:buChar char="ü"/>
            </a:pPr>
            <a:r>
              <a:rPr lang="en-US" b="1" dirty="0">
                <a:solidFill>
                  <a:schemeClr val="bg1">
                    <a:lumMod val="65000"/>
                  </a:schemeClr>
                </a:solidFill>
              </a:rPr>
              <a:t>Amazon Basics HDMI cable variants lead with the highest number of reviews, reflecting strong product popularity.</a:t>
            </a:r>
            <a:endParaRPr lang="en-US" dirty="0">
              <a:solidFill>
                <a:schemeClr val="bg1">
                  <a:lumMod val="65000"/>
                </a:schemeClr>
              </a:solidFill>
            </a:endParaRPr>
          </a:p>
          <a:p>
            <a:pPr marL="285750" indent="-285750">
              <a:buFont typeface="Wingdings" panose="05000000000000000000" pitchFamily="2" charset="2"/>
              <a:buChar char="ü"/>
            </a:pPr>
            <a:r>
              <a:rPr lang="en-US" b="1" dirty="0">
                <a:solidFill>
                  <a:schemeClr val="bg1">
                    <a:lumMod val="65000"/>
                  </a:schemeClr>
                </a:solidFill>
              </a:rPr>
              <a:t>Similar product names represent different variants or product IDs, not duplicate entries.</a:t>
            </a:r>
            <a:endParaRPr lang="en-US" dirty="0">
              <a:solidFill>
                <a:schemeClr val="bg1">
                  <a:lumMod val="65000"/>
                </a:schemeClr>
              </a:solidFill>
            </a:endParaRPr>
          </a:p>
        </p:txBody>
      </p:sp>
    </p:spTree>
    <p:extLst>
      <p:ext uri="{BB962C8B-B14F-4D97-AF65-F5344CB8AC3E}">
        <p14:creationId xmlns:p14="http://schemas.microsoft.com/office/powerpoint/2010/main" val="10612276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CA7F556C-88C4-4787-8E46-DFFA8EC359D6}"/>
              </a:ext>
            </a:extLst>
          </p:cNvPr>
          <p:cNvSpPr>
            <a:spLocks noGrp="1"/>
          </p:cNvSpPr>
          <p:nvPr/>
        </p:nvSpPr>
        <p:spPr>
          <a:xfrm>
            <a:off x="399627" y="0"/>
            <a:ext cx="10972800" cy="457200"/>
          </a:xfrm>
          <a:prstGeom prst="rect">
            <a:avLst/>
          </a:prstGeom>
          <a:noFill/>
        </p:spPr>
        <p:txBody>
          <a:bodyPr wrap="none">
            <a:spAutoFit/>
          </a:bodyPr>
          <a:lstStyle/>
          <a:p>
            <a:pPr algn="ctr">
              <a:buNone/>
              <a:defRPr sz="2600" b="1"/>
            </a:pPr>
            <a:r>
              <a:rPr dirty="0"/>
              <a:t>Top 10 Highest Discount Products</a:t>
            </a:r>
          </a:p>
        </p:txBody>
      </p:sp>
      <p:pic>
        <p:nvPicPr>
          <p:cNvPr id="7" name="Picture 2"/>
          <p:cNvPicPr>
            <a:picLocks noChangeAspect="1"/>
          </p:cNvPicPr>
          <p:nvPr/>
        </p:nvPicPr>
        <p:blipFill>
          <a:blip r:embed="rId3"/>
          <a:stretch>
            <a:fillRect/>
          </a:stretch>
        </p:blipFill>
        <p:spPr>
          <a:xfrm>
            <a:off x="0" y="2371898"/>
            <a:ext cx="5399992" cy="3978102"/>
          </a:xfrm>
          <a:prstGeom prst="rect">
            <a:avLst/>
          </a:prstGeom>
        </p:spPr>
      </p:pic>
      <p:sp>
        <p:nvSpPr>
          <p:cNvPr id="4" name="TextBox 3">
            <a:extLst>
              <a:ext uri="{FF2B5EF4-FFF2-40B4-BE49-F238E27FC236}">
                <a16:creationId xmlns="" xmlns:a16="http://schemas.microsoft.com/office/drawing/2014/main" id="{50C98C40-66E2-4EC1-A2A6-42C5CE86BE59}"/>
              </a:ext>
            </a:extLst>
          </p:cNvPr>
          <p:cNvSpPr>
            <a:spLocks noGrp="1"/>
          </p:cNvSpPr>
          <p:nvPr/>
        </p:nvSpPr>
        <p:spPr>
          <a:xfrm>
            <a:off x="7722824" y="1471122"/>
            <a:ext cx="4267200" cy="3238500"/>
          </a:xfrm>
          <a:prstGeom prst="rect">
            <a:avLst/>
          </a:prstGeom>
          <a:noFill/>
        </p:spPr>
        <p:txBody>
          <a:bodyPr wrap="square" lIns="114300" tIns="76200" rIns="114300" bIns="76200" anchor="t">
            <a:normAutofit/>
          </a:bodyPr>
          <a:lstStyle/>
          <a:p>
            <a:pPr algn="l">
              <a:buNone/>
              <a:defRPr sz="1700" b="1">
                <a:solidFill>
                  <a:srgbClr val="111111"/>
                </a:solidFill>
                <a:latin typeface="Calibri"/>
                <a:ea typeface="Calibri"/>
                <a:cs typeface="Calibri"/>
              </a:defRPr>
            </a:pPr>
            <a:endParaRPr sz="1700" b="1" dirty="0">
              <a:solidFill>
                <a:srgbClr val="111111"/>
              </a:solidFill>
              <a:latin typeface="Calibri"/>
              <a:ea typeface="Calibri"/>
              <a:cs typeface="Calibri"/>
            </a:endParaRPr>
          </a:p>
        </p:txBody>
      </p:sp>
      <p:sp>
        <p:nvSpPr>
          <p:cNvPr id="3" name="Rectangle 1"/>
          <p:cNvSpPr>
            <a:spLocks noChangeArrowheads="1"/>
          </p:cNvSpPr>
          <p:nvPr/>
        </p:nvSpPr>
        <p:spPr bwMode="auto">
          <a:xfrm>
            <a:off x="234511" y="705941"/>
            <a:ext cx="1156493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800" b="1" i="0" u="none" strike="noStrike" cap="none" normalizeH="0" baseline="0" dirty="0" smtClean="0">
                <a:ln>
                  <a:noFill/>
                </a:ln>
                <a:solidFill>
                  <a:schemeClr val="bg1">
                    <a:lumMod val="50000"/>
                  </a:schemeClr>
                </a:solidFill>
                <a:effectLst/>
                <a:latin typeface="Arial" panose="020B0604020202020204" pitchFamily="34" charset="0"/>
              </a:rPr>
              <a:t>The highest discounted products range between 90% and 94%, indicating strong promotional activity.</a:t>
            </a:r>
            <a:endParaRPr kumimoji="0" lang="en-US" sz="1800" b="0" i="0" u="none" strike="noStrike" cap="none" normalizeH="0" baseline="0" dirty="0" smtClean="0">
              <a:ln>
                <a:noFill/>
              </a:ln>
              <a:solidFill>
                <a:schemeClr val="bg1">
                  <a:lumMod val="50000"/>
                </a:schemeClr>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800" b="1" i="0" u="none" strike="noStrike" cap="none" normalizeH="0" baseline="0" dirty="0" smtClean="0">
                <a:ln>
                  <a:noFill/>
                </a:ln>
                <a:solidFill>
                  <a:schemeClr val="bg1">
                    <a:lumMod val="50000"/>
                  </a:schemeClr>
                </a:solidFill>
                <a:effectLst/>
                <a:latin typeface="Arial" panose="020B0604020202020204" pitchFamily="34" charset="0"/>
              </a:rPr>
              <a:t>Such extreme discounts suggest strategies like inventory clearance, customer attraction, or competitive pricing in the market.</a:t>
            </a:r>
            <a:endParaRPr kumimoji="0" lang="en-US" sz="1800" b="0" i="0" u="none" strike="noStrike" cap="none" normalizeH="0" baseline="0" dirty="0" smtClean="0">
              <a:ln>
                <a:noFill/>
              </a:ln>
              <a:solidFill>
                <a:schemeClr val="bg1">
                  <a:lumMod val="50000"/>
                </a:schemeClr>
              </a:solidFill>
              <a:effectLst/>
              <a:latin typeface="Arial" panose="020B0604020202020204" pitchFamily="34" charset="0"/>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12118" y="2277027"/>
            <a:ext cx="5460309" cy="3905795"/>
          </a:xfrm>
          <a:prstGeom prst="rect">
            <a:avLst/>
          </a:prstGeom>
        </p:spPr>
      </p:pic>
    </p:spTree>
    <p:extLst>
      <p:ext uri="{BB962C8B-B14F-4D97-AF65-F5344CB8AC3E}">
        <p14:creationId xmlns:p14="http://schemas.microsoft.com/office/powerpoint/2010/main" val="5621634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3AE40E12-5502-4070-85BF-8D98B0B13D49}"/>
              </a:ext>
            </a:extLst>
          </p:cNvPr>
          <p:cNvSpPr>
            <a:spLocks noGrp="1"/>
          </p:cNvSpPr>
          <p:nvPr/>
        </p:nvSpPr>
        <p:spPr>
          <a:xfrm>
            <a:off x="365760" y="182880"/>
            <a:ext cx="10972800" cy="457200"/>
          </a:xfrm>
          <a:prstGeom prst="rect">
            <a:avLst/>
          </a:prstGeom>
          <a:noFill/>
        </p:spPr>
        <p:txBody>
          <a:bodyPr wrap="none">
            <a:spAutoFit/>
          </a:bodyPr>
          <a:lstStyle/>
          <a:p>
            <a:pPr algn="ctr">
              <a:buNone/>
              <a:defRPr sz="2600" b="1"/>
            </a:pPr>
            <a:r>
              <a:t>Discount vs Rating Analysis</a:t>
            </a:r>
          </a:p>
        </p:txBody>
      </p:sp>
      <p:pic>
        <p:nvPicPr>
          <p:cNvPr id="7" name="Picture 2"/>
          <p:cNvPicPr>
            <a:picLocks noChangeAspect="1"/>
          </p:cNvPicPr>
          <p:nvPr/>
        </p:nvPicPr>
        <p:blipFill>
          <a:blip r:embed="rId3"/>
          <a:stretch>
            <a:fillRect/>
          </a:stretch>
        </p:blipFill>
        <p:spPr>
          <a:xfrm>
            <a:off x="154235" y="1608512"/>
            <a:ext cx="6675120" cy="3640975"/>
          </a:xfrm>
          <a:prstGeom prst="rect">
            <a:avLst/>
          </a:prstGeom>
        </p:spPr>
      </p:pic>
      <p:sp>
        <p:nvSpPr>
          <p:cNvPr id="4" name="TextBox 3">
            <a:extLst>
              <a:ext uri="{FF2B5EF4-FFF2-40B4-BE49-F238E27FC236}">
                <a16:creationId xmlns="" xmlns:a16="http://schemas.microsoft.com/office/drawing/2014/main" id="{4A38A598-2F68-4C34-B2AD-083814CC46CD}"/>
              </a:ext>
            </a:extLst>
          </p:cNvPr>
          <p:cNvSpPr>
            <a:spLocks noGrp="1"/>
          </p:cNvSpPr>
          <p:nvPr/>
        </p:nvSpPr>
        <p:spPr>
          <a:xfrm>
            <a:off x="275421" y="640080"/>
            <a:ext cx="11600761" cy="1221771"/>
          </a:xfrm>
          <a:prstGeom prst="rect">
            <a:avLst/>
          </a:prstGeom>
          <a:noFill/>
        </p:spPr>
        <p:txBody>
          <a:bodyPr wrap="square" lIns="114300" tIns="76200" rIns="114300" bIns="76200" anchor="t">
            <a:normAutofit/>
          </a:bodyPr>
          <a:lstStyle/>
          <a:p>
            <a:pPr marL="285750" indent="-285750" algn="l">
              <a:buFont typeface="Wingdings" panose="05000000000000000000" pitchFamily="2" charset="2"/>
              <a:buChar char="Ø"/>
              <a:defRPr sz="1700" b="1">
                <a:solidFill>
                  <a:srgbClr val="111111"/>
                </a:solidFill>
                <a:latin typeface="Calibri"/>
                <a:ea typeface="Calibri"/>
                <a:cs typeface="Calibri"/>
              </a:defRPr>
            </a:pPr>
            <a:r>
              <a:rPr sz="1700" b="1" dirty="0">
                <a:solidFill>
                  <a:schemeClr val="bg1">
                    <a:lumMod val="50000"/>
                  </a:schemeClr>
                </a:solidFill>
                <a:latin typeface="Calibri"/>
                <a:ea typeface="Calibri"/>
                <a:cs typeface="Calibri"/>
              </a:rPr>
              <a:t>The scatter plot shows no strong relationship between discount and rating. Higher discounts do not necessarily produce higher customer satisfaction.</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48547" y="1663548"/>
            <a:ext cx="4329629" cy="4634436"/>
          </a:xfrm>
          <a:prstGeom prst="rect">
            <a:avLst/>
          </a:prstGeom>
        </p:spPr>
      </p:pic>
      <p:sp>
        <p:nvSpPr>
          <p:cNvPr id="5" name="Rectangle 4"/>
          <p:cNvSpPr/>
          <p:nvPr/>
        </p:nvSpPr>
        <p:spPr>
          <a:xfrm>
            <a:off x="528534" y="5469742"/>
            <a:ext cx="6191479" cy="369332"/>
          </a:xfrm>
          <a:prstGeom prst="rect">
            <a:avLst/>
          </a:prstGeom>
        </p:spPr>
        <p:txBody>
          <a:bodyPr wrap="square">
            <a:spAutoFit/>
          </a:bodyPr>
          <a:lstStyle/>
          <a:p>
            <a:pPr marL="285750" indent="-285750">
              <a:buFont typeface="Wingdings" panose="05000000000000000000" pitchFamily="2" charset="2"/>
              <a:buChar char="ü"/>
            </a:pPr>
            <a:r>
              <a:rPr lang="en-US" dirty="0">
                <a:solidFill>
                  <a:schemeClr val="bg1">
                    <a:lumMod val="50000"/>
                  </a:schemeClr>
                </a:solidFill>
              </a:rPr>
              <a:t>Higher discounts do not guarantee higher </a:t>
            </a:r>
            <a:r>
              <a:rPr lang="en-US" dirty="0" smtClean="0">
                <a:solidFill>
                  <a:schemeClr val="bg1">
                    <a:lumMod val="50000"/>
                  </a:schemeClr>
                </a:solidFill>
              </a:rPr>
              <a:t>ratings </a:t>
            </a:r>
            <a:endParaRPr lang="en-US" dirty="0">
              <a:solidFill>
                <a:schemeClr val="bg1">
                  <a:lumMod val="50000"/>
                </a:schemeClr>
              </a:solidFill>
            </a:endParaRPr>
          </a:p>
        </p:txBody>
      </p:sp>
      <p:sp>
        <p:nvSpPr>
          <p:cNvPr id="6" name="Rectangle 5"/>
          <p:cNvSpPr/>
          <p:nvPr/>
        </p:nvSpPr>
        <p:spPr>
          <a:xfrm>
            <a:off x="528533" y="5894753"/>
            <a:ext cx="6191479" cy="646331"/>
          </a:xfrm>
          <a:prstGeom prst="rect">
            <a:avLst/>
          </a:prstGeom>
        </p:spPr>
        <p:txBody>
          <a:bodyPr wrap="square">
            <a:spAutoFit/>
          </a:bodyPr>
          <a:lstStyle/>
          <a:p>
            <a:pPr marL="285750" indent="-285750">
              <a:buFont typeface="Wingdings" panose="05000000000000000000" pitchFamily="2" charset="2"/>
              <a:buChar char="ü"/>
            </a:pPr>
            <a:r>
              <a:rPr lang="en-US" dirty="0">
                <a:solidFill>
                  <a:schemeClr val="bg1">
                    <a:lumMod val="50000"/>
                  </a:schemeClr>
                </a:solidFill>
              </a:rPr>
              <a:t>Discount and rating are not strongly related — product quality matters more than pricing.</a:t>
            </a:r>
          </a:p>
        </p:txBody>
      </p:sp>
    </p:spTree>
    <p:extLst>
      <p:ext uri="{BB962C8B-B14F-4D97-AF65-F5344CB8AC3E}">
        <p14:creationId xmlns:p14="http://schemas.microsoft.com/office/powerpoint/2010/main" val="16513187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C92B329F-3708-4DA8-B57B-97AB8D35FB51}"/>
              </a:ext>
            </a:extLst>
          </p:cNvPr>
          <p:cNvSpPr>
            <a:spLocks noGrp="1"/>
          </p:cNvSpPr>
          <p:nvPr/>
        </p:nvSpPr>
        <p:spPr>
          <a:xfrm>
            <a:off x="365760" y="182880"/>
            <a:ext cx="10972800" cy="457200"/>
          </a:xfrm>
          <a:prstGeom prst="rect">
            <a:avLst/>
          </a:prstGeom>
          <a:noFill/>
        </p:spPr>
        <p:txBody>
          <a:bodyPr wrap="none">
            <a:spAutoFit/>
          </a:bodyPr>
          <a:lstStyle/>
          <a:p>
            <a:pPr algn="ctr">
              <a:buNone/>
              <a:defRPr sz="2600" b="1"/>
            </a:pPr>
            <a:r>
              <a:t>Top 10 Product Categories</a:t>
            </a:r>
          </a:p>
        </p:txBody>
      </p:sp>
      <p:pic>
        <p:nvPicPr>
          <p:cNvPr id="7" name="Picture 2"/>
          <p:cNvPicPr>
            <a:picLocks noChangeAspect="1"/>
          </p:cNvPicPr>
          <p:nvPr/>
        </p:nvPicPr>
        <p:blipFill>
          <a:blip r:embed="rId3"/>
          <a:stretch>
            <a:fillRect/>
          </a:stretch>
        </p:blipFill>
        <p:spPr>
          <a:xfrm>
            <a:off x="189489" y="1520141"/>
            <a:ext cx="6675120" cy="4450080"/>
          </a:xfrm>
          <a:prstGeom prst="rect">
            <a:avLst/>
          </a:prstGeom>
        </p:spPr>
      </p:pic>
      <p:sp>
        <p:nvSpPr>
          <p:cNvPr id="4" name="TextBox 3">
            <a:extLst>
              <a:ext uri="{FF2B5EF4-FFF2-40B4-BE49-F238E27FC236}">
                <a16:creationId xmlns="" xmlns:a16="http://schemas.microsoft.com/office/drawing/2014/main" id="{3BA69FC0-8B21-40A6-BBBF-A38DFDC47602}"/>
              </a:ext>
            </a:extLst>
          </p:cNvPr>
          <p:cNvSpPr>
            <a:spLocks noGrp="1"/>
          </p:cNvSpPr>
          <p:nvPr/>
        </p:nvSpPr>
        <p:spPr>
          <a:xfrm>
            <a:off x="86818" y="648343"/>
            <a:ext cx="12102007" cy="1023472"/>
          </a:xfrm>
          <a:prstGeom prst="rect">
            <a:avLst/>
          </a:prstGeom>
          <a:noFill/>
        </p:spPr>
        <p:txBody>
          <a:bodyPr wrap="square" lIns="114300" tIns="76200" rIns="114300" bIns="76200" anchor="t">
            <a:normAutofit/>
          </a:bodyPr>
          <a:lstStyle/>
          <a:p>
            <a:pPr marL="285750" indent="-285750" algn="l">
              <a:buFont typeface="Wingdings" panose="05000000000000000000" pitchFamily="2" charset="2"/>
              <a:buChar char="Ø"/>
              <a:defRPr sz="1700" b="1">
                <a:solidFill>
                  <a:srgbClr val="111111"/>
                </a:solidFill>
                <a:latin typeface="Calibri"/>
                <a:ea typeface="Calibri"/>
                <a:cs typeface="Calibri"/>
              </a:defRPr>
            </a:pPr>
            <a:r>
              <a:rPr sz="1700" b="1" dirty="0">
                <a:solidFill>
                  <a:schemeClr val="bg1">
                    <a:lumMod val="50000"/>
                  </a:schemeClr>
                </a:solidFill>
                <a:latin typeface="Calibri"/>
                <a:ea typeface="Calibri"/>
                <a:cs typeface="Calibri"/>
              </a:rPr>
              <a:t>USB Cables lead with 159 products, more than twice the 68 Smartphones. Computer accessories have the strongest representation in this dataset.</a:t>
            </a: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9283" y="1902478"/>
            <a:ext cx="4368428" cy="4067743"/>
          </a:xfrm>
          <a:prstGeom prst="rect">
            <a:avLst/>
          </a:prstGeom>
        </p:spPr>
      </p:pic>
      <p:sp>
        <p:nvSpPr>
          <p:cNvPr id="6" name="Rectangle 1"/>
          <p:cNvSpPr>
            <a:spLocks noChangeArrowheads="1"/>
          </p:cNvSpPr>
          <p:nvPr/>
        </p:nvSpPr>
        <p:spPr bwMode="auto">
          <a:xfrm>
            <a:off x="33051" y="6472687"/>
            <a:ext cx="106041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sz="1800" b="1" i="0" u="none" strike="noStrike" cap="none" normalizeH="0" baseline="0" dirty="0" smtClean="0">
                <a:ln>
                  <a:noFill/>
                </a:ln>
                <a:solidFill>
                  <a:schemeClr val="bg1">
                    <a:lumMod val="50000"/>
                  </a:schemeClr>
                </a:solidFill>
                <a:effectLst/>
                <a:latin typeface="Arial" panose="020B0604020202020204" pitchFamily="34" charset="0"/>
              </a:rPr>
              <a:t>USB Cables lead with 159 products, showing strong dominance in the accessories segment</a:t>
            </a:r>
            <a:r>
              <a:rPr kumimoji="0" lang="en-US" sz="1800" b="1" i="0" u="none" strike="noStrike" cap="none" normalizeH="0" baseline="0" dirty="0" smtClean="0">
                <a:ln>
                  <a:noFill/>
                </a:ln>
                <a:solidFill>
                  <a:schemeClr val="tx1"/>
                </a:solidFill>
                <a:effectLst/>
                <a:latin typeface="Arial" panose="020B0604020202020204" pitchFamily="34" charset="0"/>
              </a:rPr>
              <a:t>.</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569107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ED760EC0-8E29-421A-8037-4A98B3BDAAB7}"/>
              </a:ext>
            </a:extLst>
          </p:cNvPr>
          <p:cNvSpPr>
            <a:spLocks noGrp="1"/>
          </p:cNvSpPr>
          <p:nvPr/>
        </p:nvSpPr>
        <p:spPr>
          <a:xfrm>
            <a:off x="365760" y="182880"/>
            <a:ext cx="10972800" cy="457200"/>
          </a:xfrm>
          <a:prstGeom prst="rect">
            <a:avLst/>
          </a:prstGeom>
          <a:noFill/>
        </p:spPr>
        <p:txBody>
          <a:bodyPr wrap="none">
            <a:spAutoFit/>
          </a:bodyPr>
          <a:lstStyle/>
          <a:p>
            <a:pPr algn="ctr">
              <a:buNone/>
              <a:defRPr sz="2600" b="1"/>
            </a:pPr>
            <a:r>
              <a:t>Correlation Matrix</a:t>
            </a:r>
          </a:p>
        </p:txBody>
      </p:sp>
      <p:sp>
        <p:nvSpPr>
          <p:cNvPr id="4" name="TextBox 3">
            <a:extLst>
              <a:ext uri="{FF2B5EF4-FFF2-40B4-BE49-F238E27FC236}">
                <a16:creationId xmlns="" xmlns:a16="http://schemas.microsoft.com/office/drawing/2014/main" id="{D3400829-5A60-47CE-826E-77B49F74386D}"/>
              </a:ext>
            </a:extLst>
          </p:cNvPr>
          <p:cNvSpPr>
            <a:spLocks noGrp="1"/>
          </p:cNvSpPr>
          <p:nvPr/>
        </p:nvSpPr>
        <p:spPr>
          <a:xfrm>
            <a:off x="77119" y="881350"/>
            <a:ext cx="12111706" cy="914399"/>
          </a:xfrm>
          <a:prstGeom prst="rect">
            <a:avLst/>
          </a:prstGeom>
          <a:noFill/>
        </p:spPr>
        <p:txBody>
          <a:bodyPr wrap="square" lIns="114300" tIns="76200" rIns="114300" bIns="76200" anchor="t">
            <a:normAutofit/>
          </a:bodyPr>
          <a:lstStyle/>
          <a:p>
            <a:pPr marL="285750" indent="-285750" algn="l">
              <a:buFont typeface="Wingdings" panose="05000000000000000000" pitchFamily="2" charset="2"/>
              <a:buChar char="Ø"/>
              <a:defRPr sz="1700" b="1">
                <a:solidFill>
                  <a:srgbClr val="111111"/>
                </a:solidFill>
                <a:latin typeface="Calibri"/>
                <a:ea typeface="Calibri"/>
                <a:cs typeface="Calibri"/>
              </a:defRPr>
            </a:pPr>
            <a:r>
              <a:rPr sz="1700" b="1" dirty="0">
                <a:solidFill>
                  <a:schemeClr val="bg1">
                    <a:lumMod val="50000"/>
                  </a:schemeClr>
                </a:solidFill>
                <a:latin typeface="Calibri"/>
                <a:ea typeface="Calibri"/>
                <a:cs typeface="Calibri"/>
              </a:rPr>
              <a:t>Actual price and discounted price have a strong positive correlation of 0.96. Discount percentage and rating have only a weak negative relationship of -0.16.</a:t>
            </a: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1224" t="6519" r="29877" b="4333"/>
          <a:stretch/>
        </p:blipFill>
        <p:spPr>
          <a:xfrm>
            <a:off x="7160964" y="1308045"/>
            <a:ext cx="3734717" cy="4972330"/>
          </a:xfrm>
          <a:prstGeom prst="rect">
            <a:avLst/>
          </a:prstGeom>
        </p:spPr>
      </p:pic>
      <p:sp>
        <p:nvSpPr>
          <p:cNvPr id="5" name="Rectangle 1"/>
          <p:cNvSpPr>
            <a:spLocks noChangeArrowheads="1"/>
          </p:cNvSpPr>
          <p:nvPr/>
        </p:nvSpPr>
        <p:spPr bwMode="auto">
          <a:xfrm>
            <a:off x="0" y="6437572"/>
            <a:ext cx="947567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sz="1800" b="1" i="0" u="none" strike="noStrike" cap="none" normalizeH="0" baseline="0" dirty="0" smtClean="0">
                <a:ln>
                  <a:noFill/>
                </a:ln>
                <a:solidFill>
                  <a:schemeClr val="bg1">
                    <a:lumMod val="50000"/>
                  </a:schemeClr>
                </a:solidFill>
                <a:effectLst/>
                <a:latin typeface="Arial" panose="020B0604020202020204" pitchFamily="34" charset="0"/>
              </a:rPr>
              <a:t>Strong price correlation exists, but discount and ratings show weak relationships.</a:t>
            </a:r>
            <a:endParaRPr kumimoji="0" lang="en-US" sz="1800" b="0" i="0" u="none" strike="noStrike" cap="none" normalizeH="0" baseline="0" dirty="0" smtClean="0">
              <a:ln>
                <a:noFill/>
              </a:ln>
              <a:solidFill>
                <a:schemeClr val="bg1">
                  <a:lumMod val="50000"/>
                </a:schemeClr>
              </a:solidFill>
              <a:effectLst/>
              <a:latin typeface="Arial" panose="020B0604020202020204" pitchFamily="34" charset="0"/>
            </a:endParaRPr>
          </a:p>
        </p:txBody>
      </p:sp>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l="2360" t="1217" r="2337" b="5352"/>
          <a:stretch/>
        </p:blipFill>
        <p:spPr>
          <a:xfrm>
            <a:off x="749147" y="1839818"/>
            <a:ext cx="4748270" cy="3382178"/>
          </a:xfrm>
          <a:prstGeom prst="rect">
            <a:avLst/>
          </a:prstGeom>
        </p:spPr>
      </p:pic>
    </p:spTree>
    <p:extLst>
      <p:ext uri="{BB962C8B-B14F-4D97-AF65-F5344CB8AC3E}">
        <p14:creationId xmlns:p14="http://schemas.microsoft.com/office/powerpoint/2010/main" val="20637163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AD42840A-E115-4E65-A9BD-9D220884D742}"/>
              </a:ext>
            </a:extLst>
          </p:cNvPr>
          <p:cNvSpPr>
            <a:spLocks noGrp="1"/>
          </p:cNvSpPr>
          <p:nvPr/>
        </p:nvSpPr>
        <p:spPr>
          <a:xfrm>
            <a:off x="365760" y="182880"/>
            <a:ext cx="10972800" cy="457200"/>
          </a:xfrm>
          <a:prstGeom prst="rect">
            <a:avLst/>
          </a:prstGeom>
          <a:noFill/>
        </p:spPr>
        <p:txBody>
          <a:bodyPr wrap="none">
            <a:spAutoFit/>
          </a:bodyPr>
          <a:lstStyle/>
          <a:p>
            <a:pPr algn="ctr">
              <a:buNone/>
              <a:defRPr sz="2600" b="1"/>
            </a:pPr>
            <a:r>
              <a:t>Top 10 Category Share</a:t>
            </a:r>
          </a:p>
        </p:txBody>
      </p:sp>
      <p:pic>
        <p:nvPicPr>
          <p:cNvPr id="7" name="Picture 2"/>
          <p:cNvPicPr>
            <a:picLocks noChangeAspect="1"/>
          </p:cNvPicPr>
          <p:nvPr/>
        </p:nvPicPr>
        <p:blipFill rotWithShape="1">
          <a:blip r:embed="rId3"/>
          <a:srcRect l="10109" t="2346" r="9893" b="6333"/>
          <a:stretch/>
        </p:blipFill>
        <p:spPr>
          <a:xfrm>
            <a:off x="365760" y="1912871"/>
            <a:ext cx="4966404" cy="3547431"/>
          </a:xfrm>
          <a:prstGeom prst="rect">
            <a:avLst/>
          </a:prstGeom>
        </p:spPr>
      </p:pic>
      <p:sp>
        <p:nvSpPr>
          <p:cNvPr id="4" name="TextBox 3">
            <a:extLst>
              <a:ext uri="{FF2B5EF4-FFF2-40B4-BE49-F238E27FC236}">
                <a16:creationId xmlns="" xmlns:a16="http://schemas.microsoft.com/office/drawing/2014/main" id="{282761BB-47C2-420C-907C-59198EB0768F}"/>
              </a:ext>
            </a:extLst>
          </p:cNvPr>
          <p:cNvSpPr>
            <a:spLocks noGrp="1"/>
          </p:cNvSpPr>
          <p:nvPr/>
        </p:nvSpPr>
        <p:spPr>
          <a:xfrm>
            <a:off x="242371" y="823510"/>
            <a:ext cx="11946454" cy="972239"/>
          </a:xfrm>
          <a:prstGeom prst="rect">
            <a:avLst/>
          </a:prstGeom>
          <a:noFill/>
        </p:spPr>
        <p:txBody>
          <a:bodyPr wrap="square" lIns="114300" tIns="76200" rIns="114300" bIns="76200" anchor="t">
            <a:normAutofit/>
          </a:bodyPr>
          <a:lstStyle/>
          <a:p>
            <a:pPr marL="285750" indent="-285750" algn="l">
              <a:buFont typeface="Wingdings" panose="05000000000000000000" pitchFamily="2" charset="2"/>
              <a:buChar char="Ø"/>
              <a:defRPr sz="1700" b="1">
                <a:solidFill>
                  <a:srgbClr val="111111"/>
                </a:solidFill>
                <a:latin typeface="Calibri"/>
                <a:ea typeface="Calibri"/>
                <a:cs typeface="Calibri"/>
              </a:defRPr>
            </a:pPr>
            <a:r>
              <a:rPr sz="1700" b="1" dirty="0">
                <a:solidFill>
                  <a:schemeClr val="bg1">
                    <a:lumMod val="50000"/>
                  </a:schemeClr>
                </a:solidFill>
                <a:latin typeface="Calibri"/>
                <a:ea typeface="Calibri"/>
                <a:cs typeface="Calibri"/>
              </a:rPr>
              <a:t>Within the Top 10 categories, USB Cables hold the largest share at 29.1%. These percentages do not represent the full Amazon marketplace.</a:t>
            </a:r>
          </a:p>
        </p:txBody>
      </p:sp>
      <p:sp>
        <p:nvSpPr>
          <p:cNvPr id="3" name="Rectangle 1"/>
          <p:cNvSpPr>
            <a:spLocks noChangeArrowheads="1"/>
          </p:cNvSpPr>
          <p:nvPr/>
        </p:nvSpPr>
        <p:spPr bwMode="auto">
          <a:xfrm>
            <a:off x="94042" y="6211669"/>
            <a:ext cx="98993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sz="1800" b="1" i="0" u="none" strike="noStrike" cap="none" normalizeH="0" baseline="0" dirty="0" smtClean="0">
                <a:ln>
                  <a:noFill/>
                </a:ln>
                <a:solidFill>
                  <a:schemeClr val="bg1">
                    <a:lumMod val="50000"/>
                  </a:schemeClr>
                </a:solidFill>
                <a:effectLst/>
                <a:latin typeface="Arial" panose="020B0604020202020204" pitchFamily="34" charset="0"/>
              </a:rPr>
              <a:t>SQL shows counts, while the chart shows percentage share based on total Top 10 categories</a:t>
            </a:r>
            <a:r>
              <a:rPr kumimoji="0" lang="en-US" sz="1800" b="1" i="0" u="none" strike="noStrike" cap="none" normalizeH="0" baseline="0" dirty="0" smtClean="0">
                <a:ln>
                  <a:noFill/>
                </a:ln>
                <a:solidFill>
                  <a:schemeClr val="tx1"/>
                </a:solidFill>
                <a:effectLst/>
                <a:latin typeface="Arial" panose="020B0604020202020204" pitchFamily="34" charset="0"/>
              </a:rPr>
              <a:t>.</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2160" y="1309629"/>
            <a:ext cx="5384770" cy="4267796"/>
          </a:xfrm>
          <a:prstGeom prst="rect">
            <a:avLst/>
          </a:prstGeom>
        </p:spPr>
      </p:pic>
      <p:sp>
        <p:nvSpPr>
          <p:cNvPr id="6" name="Rectangle 2"/>
          <p:cNvSpPr>
            <a:spLocks noChangeArrowheads="1"/>
          </p:cNvSpPr>
          <p:nvPr/>
        </p:nvSpPr>
        <p:spPr bwMode="auto">
          <a:xfrm>
            <a:off x="9106405" y="3849621"/>
            <a:ext cx="2917386"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 USB Cables share:</a:t>
            </a:r>
            <a:endParaRPr kumimoji="0" lang="en-US" sz="1000" b="0" i="0" u="none" strike="noStrike" cap="none" normalizeH="0" baseline="0" dirty="0" smtClean="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Unicode MS" panose="020B0604020202020204" pitchFamily="34" charset="-128"/>
              </a:rPr>
              <a:t>159 / 547 × 100 = 29.1%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49984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84AC0CA1-474A-4475-B4A0-5039CF624A65}"/>
              </a:ext>
            </a:extLst>
          </p:cNvPr>
          <p:cNvSpPr>
            <a:spLocks noGrp="1"/>
          </p:cNvSpPr>
          <p:nvPr/>
        </p:nvSpPr>
        <p:spPr>
          <a:xfrm>
            <a:off x="365760" y="182880"/>
            <a:ext cx="10972800" cy="457200"/>
          </a:xfrm>
          <a:prstGeom prst="rect">
            <a:avLst/>
          </a:prstGeom>
          <a:noFill/>
        </p:spPr>
        <p:txBody>
          <a:bodyPr wrap="none">
            <a:spAutoFit/>
          </a:bodyPr>
          <a:lstStyle/>
          <a:p>
            <a:pPr algn="ctr">
              <a:buNone/>
              <a:defRPr sz="2600" b="1"/>
            </a:pPr>
            <a:r>
              <a:t>Conclusion</a:t>
            </a:r>
          </a:p>
        </p:txBody>
      </p:sp>
      <p:sp>
        <p:nvSpPr>
          <p:cNvPr id="3" name="TextBox 2">
            <a:extLst>
              <a:ext uri="{FF2B5EF4-FFF2-40B4-BE49-F238E27FC236}">
                <a16:creationId xmlns="" xmlns:a16="http://schemas.microsoft.com/office/drawing/2014/main" id="{43062654-34DA-443B-9121-C51DB5423F95}"/>
              </a:ext>
            </a:extLst>
          </p:cNvPr>
          <p:cNvSpPr>
            <a:spLocks noGrp="1"/>
          </p:cNvSpPr>
          <p:nvPr/>
        </p:nvSpPr>
        <p:spPr>
          <a:xfrm>
            <a:off x="914400" y="1097280"/>
            <a:ext cx="10058400" cy="1568802"/>
          </a:xfrm>
          <a:prstGeom prst="rect">
            <a:avLst/>
          </a:prstGeom>
          <a:noFill/>
        </p:spPr>
        <p:txBody>
          <a:bodyPr wrap="square" lIns="114300" tIns="76200" rIns="114300" bIns="76200">
            <a:normAutofit/>
          </a:bodyPr>
          <a:lstStyle/>
          <a:p>
            <a:pPr marL="22" indent="-12">
              <a:buChar char="•"/>
              <a:defRPr sz="1800">
                <a:solidFill>
                  <a:srgbClr val="111111"/>
                </a:solidFill>
                <a:latin typeface="Calibri"/>
                <a:ea typeface="Calibri"/>
                <a:cs typeface="Calibri"/>
              </a:defRPr>
            </a:pPr>
            <a:r>
              <a:rPr sz="1800" dirty="0">
                <a:solidFill>
                  <a:srgbClr val="111111"/>
                </a:solidFill>
                <a:latin typeface="Calibri"/>
                <a:ea typeface="Calibri"/>
                <a:cs typeface="Calibri"/>
              </a:rPr>
              <a:t>Cleaned 1,465 raw records into 1,348 unique products.</a:t>
            </a:r>
          </a:p>
          <a:p>
            <a:pPr marL="22" indent="-12">
              <a:buChar char="•"/>
              <a:defRPr sz="1800">
                <a:solidFill>
                  <a:srgbClr val="111111"/>
                </a:solidFill>
                <a:latin typeface="Calibri"/>
                <a:ea typeface="Calibri"/>
                <a:cs typeface="Calibri"/>
              </a:defRPr>
            </a:pPr>
            <a:r>
              <a:rPr sz="1800" dirty="0">
                <a:solidFill>
                  <a:srgbClr val="111111"/>
                </a:solidFill>
                <a:latin typeface="Calibri"/>
                <a:ea typeface="Calibri"/>
                <a:cs typeface="Calibri"/>
              </a:rPr>
              <a:t>Verified KPIs across Python and MySQL: 4.09 rating, 46.66% discount, and 23.8M reviews.</a:t>
            </a:r>
          </a:p>
          <a:p>
            <a:pPr marL="22" indent="-12">
              <a:buChar char="•"/>
              <a:defRPr sz="1800">
                <a:solidFill>
                  <a:srgbClr val="111111"/>
                </a:solidFill>
                <a:latin typeface="Calibri"/>
                <a:ea typeface="Calibri"/>
                <a:cs typeface="Calibri"/>
              </a:defRPr>
            </a:pPr>
            <a:r>
              <a:rPr sz="1800" dirty="0">
                <a:solidFill>
                  <a:srgbClr val="111111"/>
                </a:solidFill>
                <a:latin typeface="Calibri"/>
                <a:ea typeface="Calibri"/>
                <a:cs typeface="Calibri"/>
              </a:rPr>
              <a:t>Found that nearly 75% of products are rated 4.0 or higher.</a:t>
            </a:r>
          </a:p>
          <a:p>
            <a:pPr marL="22" indent="-12">
              <a:buChar char="•"/>
              <a:defRPr sz="1800">
                <a:solidFill>
                  <a:srgbClr val="111111"/>
                </a:solidFill>
                <a:latin typeface="Calibri"/>
                <a:ea typeface="Calibri"/>
                <a:cs typeface="Calibri"/>
              </a:defRPr>
            </a:pPr>
            <a:r>
              <a:rPr sz="1800" dirty="0">
                <a:solidFill>
                  <a:srgbClr val="111111"/>
                </a:solidFill>
                <a:latin typeface="Calibri"/>
                <a:ea typeface="Calibri"/>
                <a:cs typeface="Calibri"/>
              </a:rPr>
              <a:t>Observed that higher discounts do not necessarily improve ratings.</a:t>
            </a:r>
          </a:p>
          <a:p>
            <a:pPr marL="22" indent="-12">
              <a:buChar char="•"/>
              <a:defRPr sz="1800">
                <a:solidFill>
                  <a:srgbClr val="111111"/>
                </a:solidFill>
                <a:latin typeface="Calibri"/>
                <a:ea typeface="Calibri"/>
                <a:cs typeface="Calibri"/>
              </a:defRPr>
            </a:pPr>
            <a:r>
              <a:rPr sz="1800" dirty="0">
                <a:solidFill>
                  <a:srgbClr val="111111"/>
                </a:solidFill>
                <a:latin typeface="Calibri"/>
                <a:ea typeface="Calibri"/>
                <a:cs typeface="Calibri"/>
              </a:rPr>
              <a:t>Recommendation: combine pricing strategy with product quality and customer </a:t>
            </a:r>
            <a:r>
              <a:rPr sz="1800" dirty="0" smtClean="0">
                <a:solidFill>
                  <a:srgbClr val="111111"/>
                </a:solidFill>
                <a:latin typeface="Calibri"/>
                <a:ea typeface="Calibri"/>
                <a:cs typeface="Calibri"/>
              </a:rPr>
              <a:t>experience.</a:t>
            </a:r>
            <a:endParaRPr sz="1800" dirty="0">
              <a:solidFill>
                <a:srgbClr val="111111"/>
              </a:solidFill>
              <a:latin typeface="Calibri"/>
              <a:ea typeface="Calibri"/>
              <a:cs typeface="Calibri"/>
            </a:endParaRPr>
          </a:p>
        </p:txBody>
      </p:sp>
      <p:sp>
        <p:nvSpPr>
          <p:cNvPr id="4" name="TextBox 3"/>
          <p:cNvSpPr txBox="1"/>
          <p:nvPr/>
        </p:nvSpPr>
        <p:spPr>
          <a:xfrm>
            <a:off x="4032173" y="5277080"/>
            <a:ext cx="3910988" cy="369332"/>
          </a:xfrm>
          <a:prstGeom prst="rect">
            <a:avLst/>
          </a:prstGeom>
          <a:noFill/>
        </p:spPr>
        <p:txBody>
          <a:bodyPr wrap="square" rtlCol="0">
            <a:spAutoFit/>
          </a:bodyPr>
          <a:lstStyle/>
          <a:p>
            <a:pPr algn="ctr"/>
            <a:r>
              <a:rPr lang="en-US" b="1" dirty="0" err="1" smtClean="0"/>
              <a:t>Thankyou</a:t>
            </a:r>
            <a:r>
              <a:rPr lang="en-US" b="1" dirty="0" smtClean="0"/>
              <a:t>…..,</a:t>
            </a:r>
            <a:endParaRPr lang="en-US" b="1"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6049" y="3987571"/>
            <a:ext cx="3164044" cy="2380713"/>
          </a:xfrm>
          <a:prstGeom prst="rect">
            <a:avLst/>
          </a:prstGeom>
        </p:spPr>
      </p:pic>
    </p:spTree>
    <p:extLst>
      <p:ext uri="{BB962C8B-B14F-4D97-AF65-F5344CB8AC3E}">
        <p14:creationId xmlns:p14="http://schemas.microsoft.com/office/powerpoint/2010/main" val="214603475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TotalTime>
  <Words>1328</Words>
  <Application>Microsoft Office PowerPoint</Application>
  <DocSecurity>0</DocSecurity>
  <PresentationFormat>Custom</PresentationFormat>
  <Paragraphs>71</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 Unicode MS</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Microsoft account</cp:lastModifiedBy>
  <cp:revision>28</cp:revision>
  <dcterms:created xsi:type="dcterms:W3CDTF">2026-08-03T18:43:51Z</dcterms:created>
  <dcterms:modified xsi:type="dcterms:W3CDTF">2026-08-27T14:14:40Z</dcterms:modified>
</cp:coreProperties>
</file>